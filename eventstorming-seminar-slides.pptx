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60" r:id="rId4"/>
    <p:sldId id="302" r:id="rId5"/>
    <p:sldId id="261" r:id="rId6"/>
    <p:sldId id="262" r:id="rId7"/>
    <p:sldId id="303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78" r:id="rId30"/>
    <p:sldId id="292" r:id="rId31"/>
    <p:sldId id="293" r:id="rId32"/>
    <p:sldId id="294" r:id="rId33"/>
    <p:sldId id="295" r:id="rId34"/>
    <p:sldId id="296" r:id="rId35"/>
    <p:sldId id="297" r:id="rId36"/>
    <p:sldId id="280" r:id="rId37"/>
    <p:sldId id="298" r:id="rId38"/>
    <p:sldId id="299" r:id="rId39"/>
    <p:sldId id="300" r:id="rId40"/>
    <p:sldId id="301" r:id="rId41"/>
    <p:sldId id="282" r:id="rId42"/>
    <p:sldId id="283" r:id="rId43"/>
    <p:sldId id="304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6D0"/>
    <a:srgbClr val="FFB3BA"/>
    <a:srgbClr val="BAD9EB"/>
    <a:srgbClr val="BAE9C8"/>
    <a:srgbClr val="FFB2C1"/>
    <a:srgbClr val="FFF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19A2ED-C629-4C7F-8169-CCB0361AD7C0}" v="10" dt="2026-05-26T21:02:02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71"/>
    <p:restoredTop sz="94610"/>
  </p:normalViewPr>
  <p:slideViewPr>
    <p:cSldViewPr snapToGrid="0" snapToObjects="1">
      <p:cViewPr>
        <p:scale>
          <a:sx n="150" d="100"/>
          <a:sy n="150" d="100"/>
        </p:scale>
        <p:origin x="35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 Castellucci - lucia.castellucci2@studio.unibo.it" userId="70cd796c-1871-4fbc-8a80-94f279922741" providerId="ADAL" clId="{6EF68B41-D571-45A5-9CF6-2DB9842F8801}"/>
    <pc:docChg chg="undo custSel modSld">
      <pc:chgData name="Lucia Castellucci - lucia.castellucci2@studio.unibo.it" userId="70cd796c-1871-4fbc-8a80-94f279922741" providerId="ADAL" clId="{6EF68B41-D571-45A5-9CF6-2DB9842F8801}" dt="2026-05-26T21:02:36.271" v="129" actId="20577"/>
      <pc:docMkLst>
        <pc:docMk/>
      </pc:docMkLst>
      <pc:sldChg chg="addSp modSp mod">
        <pc:chgData name="Lucia Castellucci - lucia.castellucci2@studio.unibo.it" userId="70cd796c-1871-4fbc-8a80-94f279922741" providerId="ADAL" clId="{6EF68B41-D571-45A5-9CF6-2DB9842F8801}" dt="2026-05-26T20:58:47.906" v="17" actId="1076"/>
        <pc:sldMkLst>
          <pc:docMk/>
          <pc:sldMk cId="0" sldId="256"/>
        </pc:sldMkLst>
        <pc:picChg chg="add mod">
          <ac:chgData name="Lucia Castellucci - lucia.castellucci2@studio.unibo.it" userId="70cd796c-1871-4fbc-8a80-94f279922741" providerId="ADAL" clId="{6EF68B41-D571-45A5-9CF6-2DB9842F8801}" dt="2026-05-26T20:58:47.906" v="17" actId="1076"/>
          <ac:picMkLst>
            <pc:docMk/>
            <pc:sldMk cId="0" sldId="256"/>
            <ac:picMk id="19" creationId="{7D7F7E20-A97D-E8CB-43D7-630FA3BE5836}"/>
          </ac:picMkLst>
        </pc:picChg>
      </pc:sldChg>
      <pc:sldChg chg="modSp mod">
        <pc:chgData name="Lucia Castellucci - lucia.castellucci2@studio.unibo.it" userId="70cd796c-1871-4fbc-8a80-94f279922741" providerId="ADAL" clId="{6EF68B41-D571-45A5-9CF6-2DB9842F8801}" dt="2026-05-26T21:00:21.424" v="43" actId="20577"/>
        <pc:sldMkLst>
          <pc:docMk/>
          <pc:sldMk cId="0" sldId="257"/>
        </pc:sldMkLst>
        <pc:spChg chg="mod">
          <ac:chgData name="Lucia Castellucci - lucia.castellucci2@studio.unibo.it" userId="70cd796c-1871-4fbc-8a80-94f279922741" providerId="ADAL" clId="{6EF68B41-D571-45A5-9CF6-2DB9842F8801}" dt="2026-05-26T20:59:44.787" v="3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Lucia Castellucci - lucia.castellucci2@studio.unibo.it" userId="70cd796c-1871-4fbc-8a80-94f279922741" providerId="ADAL" clId="{6EF68B41-D571-45A5-9CF6-2DB9842F8801}" dt="2026-05-26T21:00:16.769" v="40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Lucia Castellucci - lucia.castellucci2@studio.unibo.it" userId="70cd796c-1871-4fbc-8a80-94f279922741" providerId="ADAL" clId="{6EF68B41-D571-45A5-9CF6-2DB9842F8801}" dt="2026-05-26T21:00:21.424" v="43" actId="20577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Lucia Castellucci - lucia.castellucci2@studio.unibo.it" userId="70cd796c-1871-4fbc-8a80-94f279922741" providerId="ADAL" clId="{6EF68B41-D571-45A5-9CF6-2DB9842F8801}" dt="2026-05-26T21:02:07.564" v="112" actId="20577"/>
        <pc:sldMkLst>
          <pc:docMk/>
          <pc:sldMk cId="0" sldId="266"/>
        </pc:sldMkLst>
        <pc:spChg chg="mod">
          <ac:chgData name="Lucia Castellucci - lucia.castellucci2@studio.unibo.it" userId="70cd796c-1871-4fbc-8a80-94f279922741" providerId="ADAL" clId="{6EF68B41-D571-45A5-9CF6-2DB9842F8801}" dt="2026-05-26T21:02:07.564" v="112" actId="20577"/>
          <ac:spMkLst>
            <pc:docMk/>
            <pc:sldMk cId="0" sldId="266"/>
            <ac:spMk id="5" creationId="{00000000-0000-0000-0000-000000000000}"/>
          </ac:spMkLst>
        </pc:spChg>
        <pc:spChg chg="mod">
          <ac:chgData name="Lucia Castellucci - lucia.castellucci2@studio.unibo.it" userId="70cd796c-1871-4fbc-8a80-94f279922741" providerId="ADAL" clId="{6EF68B41-D571-45A5-9CF6-2DB9842F8801}" dt="2026-05-26T21:01:51.151" v="107" actId="113"/>
          <ac:spMkLst>
            <pc:docMk/>
            <pc:sldMk cId="0" sldId="266"/>
            <ac:spMk id="7" creationId="{00000000-0000-0000-0000-000000000000}"/>
          </ac:spMkLst>
        </pc:spChg>
        <pc:spChg chg="mod">
          <ac:chgData name="Lucia Castellucci - lucia.castellucci2@studio.unibo.it" userId="70cd796c-1871-4fbc-8a80-94f279922741" providerId="ADAL" clId="{6EF68B41-D571-45A5-9CF6-2DB9842F8801}" dt="2026-05-26T21:02:02.879" v="109" actId="20577"/>
          <ac:spMkLst>
            <pc:docMk/>
            <pc:sldMk cId="0" sldId="266"/>
            <ac:spMk id="8" creationId="{00000000-0000-0000-0000-000000000000}"/>
          </ac:spMkLst>
        </pc:spChg>
      </pc:sldChg>
      <pc:sldChg chg="modSp mod">
        <pc:chgData name="Lucia Castellucci - lucia.castellucci2@studio.unibo.it" userId="70cd796c-1871-4fbc-8a80-94f279922741" providerId="ADAL" clId="{6EF68B41-D571-45A5-9CF6-2DB9842F8801}" dt="2026-05-26T21:02:36.271" v="129" actId="20577"/>
        <pc:sldMkLst>
          <pc:docMk/>
          <pc:sldMk cId="0" sldId="273"/>
        </pc:sldMkLst>
        <pc:spChg chg="mod">
          <ac:chgData name="Lucia Castellucci - lucia.castellucci2@studio.unibo.it" userId="70cd796c-1871-4fbc-8a80-94f279922741" providerId="ADAL" clId="{6EF68B41-D571-45A5-9CF6-2DB9842F8801}" dt="2026-05-26T21:02:36.271" v="129" actId="20577"/>
          <ac:spMkLst>
            <pc:docMk/>
            <pc:sldMk cId="0" sldId="273"/>
            <ac:spMk id="7" creationId="{00000000-0000-0000-0000-000000000000}"/>
          </ac:spMkLst>
        </pc:spChg>
      </pc:sldChg>
      <pc:sldChg chg="addSp delSp modSp mod">
        <pc:chgData name="Lucia Castellucci - lucia.castellucci2@studio.unibo.it" userId="70cd796c-1871-4fbc-8a80-94f279922741" providerId="ADAL" clId="{6EF68B41-D571-45A5-9CF6-2DB9842F8801}" dt="2026-05-26T20:44:11.885" v="10" actId="1076"/>
        <pc:sldMkLst>
          <pc:docMk/>
          <pc:sldMk cId="0" sldId="282"/>
        </pc:sldMkLst>
        <pc:spChg chg="mod">
          <ac:chgData name="Lucia Castellucci - lucia.castellucci2@studio.unibo.it" userId="70cd796c-1871-4fbc-8a80-94f279922741" providerId="ADAL" clId="{6EF68B41-D571-45A5-9CF6-2DB9842F8801}" dt="2026-05-26T20:43:57.565" v="7" actId="1076"/>
          <ac:spMkLst>
            <pc:docMk/>
            <pc:sldMk cId="0" sldId="282"/>
            <ac:spMk id="4" creationId="{00000000-0000-0000-0000-000000000000}"/>
          </ac:spMkLst>
        </pc:spChg>
        <pc:picChg chg="add mod">
          <ac:chgData name="Lucia Castellucci - lucia.castellucci2@studio.unibo.it" userId="70cd796c-1871-4fbc-8a80-94f279922741" providerId="ADAL" clId="{6EF68B41-D571-45A5-9CF6-2DB9842F8801}" dt="2026-05-26T20:44:11.885" v="10" actId="1076"/>
          <ac:picMkLst>
            <pc:docMk/>
            <pc:sldMk cId="0" sldId="282"/>
            <ac:picMk id="8" creationId="{2BDE67B0-F2EE-9632-609C-77E6BD1ACD2C}"/>
          </ac:picMkLst>
        </pc:picChg>
        <pc:picChg chg="del">
          <ac:chgData name="Lucia Castellucci - lucia.castellucci2@studio.unibo.it" userId="70cd796c-1871-4fbc-8a80-94f279922741" providerId="ADAL" clId="{6EF68B41-D571-45A5-9CF6-2DB9842F8801}" dt="2026-05-26T20:43:35.143" v="0" actId="478"/>
          <ac:picMkLst>
            <pc:docMk/>
            <pc:sldMk cId="0" sldId="282"/>
            <ac:picMk id="11" creationId="{3AA37DBF-BD86-B6F2-565F-0E251A4F849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6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71FAF-3ED4-10A0-18D8-269D607CD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2D0D7-B280-ACAE-9FC5-D5EEFCB68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F98BD-7BBA-EA3E-84B3-B782441A8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B2910-959E-9318-E616-BE67007E3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63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enameTeam/Nucleo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ventstorming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stIt_TL1"/>
          <p:cNvSpPr/>
          <p:nvPr/>
        </p:nvSpPr>
        <p:spPr>
          <a:xfrm rot="-300000">
            <a:off x="91440" y="91440"/>
            <a:ext cx="1371600" cy="68580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PostIt_TL2"/>
          <p:cNvSpPr/>
          <p:nvPr/>
        </p:nvSpPr>
        <p:spPr>
          <a:xfrm rot="200000">
            <a:off x="1280160" y="182880"/>
            <a:ext cx="1188720" cy="685800"/>
          </a:xfrm>
          <a:prstGeom prst="rect">
            <a:avLst/>
          </a:prstGeom>
          <a:solidFill>
            <a:srgbClr val="FFB3BA"/>
          </a:solidFill>
          <a:ln w="6350">
            <a:solidFill>
              <a:srgbClr val="CC708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PostIt_TL3"/>
          <p:cNvSpPr/>
          <p:nvPr/>
        </p:nvSpPr>
        <p:spPr>
          <a:xfrm rot="-150000">
            <a:off x="182880" y="685800"/>
            <a:ext cx="1097280" cy="594360"/>
          </a:xfrm>
          <a:prstGeom prst="rect">
            <a:avLst/>
          </a:prstGeom>
          <a:solidFill>
            <a:srgbClr val="BAD9EB"/>
          </a:solidFill>
          <a:ln w="6350">
            <a:solidFill>
              <a:srgbClr val="6099B5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PostIt_TR1"/>
          <p:cNvSpPr/>
          <p:nvPr/>
        </p:nvSpPr>
        <p:spPr>
          <a:xfrm rot="300000">
            <a:off x="7635600" y="91440"/>
            <a:ext cx="1371600" cy="685800"/>
          </a:xfrm>
          <a:prstGeom prst="rect">
            <a:avLst/>
          </a:prstGeom>
          <a:solidFill>
            <a:srgbClr val="BAE8C8"/>
          </a:solidFill>
          <a:ln w="6350">
            <a:solidFill>
              <a:srgbClr val="60B88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PostIt_TR2"/>
          <p:cNvSpPr/>
          <p:nvPr/>
        </p:nvSpPr>
        <p:spPr>
          <a:xfrm rot="-250000">
            <a:off x="6629040" y="182880"/>
            <a:ext cx="1188720" cy="685800"/>
          </a:xfrm>
          <a:prstGeom prst="rect">
            <a:avLst/>
          </a:prstGeom>
          <a:solidFill>
            <a:srgbClr val="DFC5F0"/>
          </a:solidFill>
          <a:ln w="6350">
            <a:solidFill>
              <a:srgbClr val="9060B8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PostIt_TR3"/>
          <p:cNvSpPr/>
          <p:nvPr/>
        </p:nvSpPr>
        <p:spPr>
          <a:xfrm rot="100000">
            <a:off x="7863840" y="685800"/>
            <a:ext cx="1097280" cy="594360"/>
          </a:xfrm>
          <a:prstGeom prst="rect">
            <a:avLst/>
          </a:prstGeom>
          <a:solidFill>
            <a:srgbClr val="FFDAB9"/>
          </a:solidFill>
          <a:ln w="6350">
            <a:solidFill>
              <a:srgbClr val="CC987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PostIt_LM1"/>
          <p:cNvSpPr/>
          <p:nvPr/>
        </p:nvSpPr>
        <p:spPr>
          <a:xfrm rot="-200000">
            <a:off x="91440" y="1280160"/>
            <a:ext cx="1188720" cy="68580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PostIt_LM2"/>
          <p:cNvSpPr/>
          <p:nvPr/>
        </p:nvSpPr>
        <p:spPr>
          <a:xfrm rot="350000">
            <a:off x="182880" y="1920240"/>
            <a:ext cx="1097280" cy="594360"/>
          </a:xfrm>
          <a:prstGeom prst="rect">
            <a:avLst/>
          </a:prstGeom>
          <a:solidFill>
            <a:srgbClr val="BAE8C8"/>
          </a:solidFill>
          <a:ln w="6350">
            <a:solidFill>
              <a:srgbClr val="60B88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PostIt_RM1"/>
          <p:cNvSpPr/>
          <p:nvPr/>
        </p:nvSpPr>
        <p:spPr>
          <a:xfrm rot="250000">
            <a:off x="7863840" y="1280160"/>
            <a:ext cx="1188720" cy="685800"/>
          </a:xfrm>
          <a:prstGeom prst="rect">
            <a:avLst/>
          </a:prstGeom>
          <a:solidFill>
            <a:srgbClr val="FFB3BA"/>
          </a:solidFill>
          <a:ln w="6350">
            <a:solidFill>
              <a:srgbClr val="CC708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PostIt_RM2"/>
          <p:cNvSpPr/>
          <p:nvPr/>
        </p:nvSpPr>
        <p:spPr>
          <a:xfrm rot="-300000">
            <a:off x="7863840" y="1920240"/>
            <a:ext cx="1097280" cy="594360"/>
          </a:xfrm>
          <a:prstGeom prst="rect">
            <a:avLst/>
          </a:prstGeom>
          <a:solidFill>
            <a:srgbClr val="DFC5F0"/>
          </a:solidFill>
          <a:ln w="6350">
            <a:solidFill>
              <a:srgbClr val="9060B8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PostIt_BL1"/>
          <p:cNvSpPr/>
          <p:nvPr/>
        </p:nvSpPr>
        <p:spPr>
          <a:xfrm rot="150000">
            <a:off x="91440" y="2743200"/>
            <a:ext cx="1097280" cy="594360"/>
          </a:xfrm>
          <a:prstGeom prst="rect">
            <a:avLst/>
          </a:prstGeom>
          <a:solidFill>
            <a:srgbClr val="FFDAB9"/>
          </a:solidFill>
          <a:ln w="6350">
            <a:solidFill>
              <a:srgbClr val="CC987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PostIt_BR1"/>
          <p:cNvSpPr/>
          <p:nvPr/>
        </p:nvSpPr>
        <p:spPr>
          <a:xfrm rot="-100000">
            <a:off x="7863840" y="2743200"/>
            <a:ext cx="1097280" cy="59436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itle"/>
          <p:cNvSpPr/>
          <p:nvPr/>
        </p:nvSpPr>
        <p:spPr>
          <a:xfrm>
            <a:off x="1371600" y="68580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EventStorming</a:t>
            </a:r>
          </a:p>
        </p:txBody>
      </p:sp>
      <p:sp>
        <p:nvSpPr>
          <p:cNvPr id="21" name="Subtitle"/>
          <p:cNvSpPr/>
          <p:nvPr/>
        </p:nvSpPr>
        <p:spPr>
          <a:xfrm>
            <a:off x="1371600" y="192024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0" i="1" dirty="0">
                <a:solidFill>
                  <a:srgbClr val="444444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A Collaborative Approach to Understanding Complex Business Domains</a:t>
            </a:r>
          </a:p>
        </p:txBody>
      </p:sp>
      <p:sp>
        <p:nvSpPr>
          <p:cNvPr id="41" name="SlideNum_text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rgbClr val="333333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  <a:p>
            <a:pPr marL="0" indent="0" algn="ctr">
              <a:buNone/>
            </a:pPr>
            <a:endParaRPr lang="en-US" sz="1200" b="1" dirty="0">
              <a:solidFill>
                <a:srgbClr val="333333"/>
              </a:solidFill>
              <a:latin typeface="Comic Sans MS" pitchFamily="34" charset="0"/>
              <a:ea typeface="Comic Sans MS" pitchFamily="34" charset="-122"/>
              <a:cs typeface="Comic Sans MS" pitchFamily="34" charset="-12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AEE0E0D-817E-96F3-CE74-1214865FC8A0}"/>
              </a:ext>
            </a:extLst>
          </p:cNvPr>
          <p:cNvSpPr txBox="1"/>
          <p:nvPr/>
        </p:nvSpPr>
        <p:spPr>
          <a:xfrm>
            <a:off x="4327071" y="35922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10AF66E-7627-09A8-ABFC-72DD78243994}"/>
              </a:ext>
            </a:extLst>
          </p:cNvPr>
          <p:cNvSpPr txBox="1"/>
          <p:nvPr/>
        </p:nvSpPr>
        <p:spPr>
          <a:xfrm>
            <a:off x="1512997" y="3299898"/>
            <a:ext cx="61180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University of Bologna - Campus of Cesena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Software Engineering @ Digital Transformation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g"/>
          <p:cNvSpPr/>
          <p:nvPr/>
        </p:nvSpPr>
        <p:spPr>
          <a:xfrm>
            <a:off x="228600" y="137160"/>
            <a:ext cx="8686800" cy="822960"/>
          </a:xfrm>
          <a:prstGeom prst="rect">
            <a:avLst/>
          </a:prstGeom>
          <a:solidFill>
            <a:srgbClr val="BAD9EB"/>
          </a:solidFill>
          <a:ln w="6350">
            <a:solidFill>
              <a:srgbClr val="6099B5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>
              <a:latin typeface="COMIC MONO" pitchFamily="49" charset="0"/>
            </a:endParaRPr>
          </a:p>
        </p:txBody>
      </p:sp>
      <p:sp>
        <p:nvSpPr>
          <p:cNvPr id="3" name="Title_text"/>
          <p:cNvSpPr/>
          <p:nvPr/>
        </p:nvSpPr>
        <p:spPr>
          <a:xfrm>
            <a:off x="411480" y="137160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Speakers</a:t>
            </a:r>
          </a:p>
        </p:txBody>
      </p:sp>
      <p:sp>
        <p:nvSpPr>
          <p:cNvPr id="10" name="L1_bg"/>
          <p:cNvSpPr/>
          <p:nvPr/>
        </p:nvSpPr>
        <p:spPr>
          <a:xfrm rot="-250000">
            <a:off x="280239" y="1351805"/>
            <a:ext cx="3657600" cy="1554480"/>
          </a:xfrm>
          <a:prstGeom prst="rect">
            <a:avLst/>
          </a:prstGeom>
          <a:solidFill>
            <a:srgbClr val="FFE14D"/>
          </a:solidFill>
          <a:ln w="7620">
            <a:solidFill>
              <a:srgbClr val="D4B800"/>
            </a:solidFill>
          </a:ln>
          <a:effectLst>
            <a:outerShdw blurRad="127000" dist="762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>
              <a:latin typeface="COMIC MONO" pitchFamily="49" charset="0"/>
            </a:endParaRPr>
          </a:p>
        </p:txBody>
      </p:sp>
      <p:sp>
        <p:nvSpPr>
          <p:cNvPr id="11" name="L1_text"/>
          <p:cNvSpPr/>
          <p:nvPr/>
        </p:nvSpPr>
        <p:spPr>
          <a:xfrm rot="21339960">
            <a:off x="371679" y="1443245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9144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A5C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Lucia Castellucci</a:t>
            </a:r>
          </a:p>
          <a:p>
            <a:pPr marL="0" indent="0" algn="l">
              <a:buNone/>
            </a:pPr>
            <a:r>
              <a:rPr lang="en-US" sz="1200" i="1" dirty="0">
                <a:solidFill>
                  <a:srgbClr val="555555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Milan</a:t>
            </a:r>
          </a:p>
          <a:p>
            <a:pPr marL="0" indent="0" algn="l">
              <a:buNone/>
            </a:pPr>
            <a:endParaRPr lang="en-US" sz="600" dirty="0"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MSc Student in CSE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University of Bologna</a:t>
            </a:r>
          </a:p>
        </p:txBody>
      </p:sp>
      <p:sp>
        <p:nvSpPr>
          <p:cNvPr id="12" name="L2_bg"/>
          <p:cNvSpPr/>
          <p:nvPr/>
        </p:nvSpPr>
        <p:spPr>
          <a:xfrm rot="300000">
            <a:off x="325959" y="2997725"/>
            <a:ext cx="3657600" cy="1554480"/>
          </a:xfrm>
          <a:prstGeom prst="rect">
            <a:avLst/>
          </a:prstGeom>
          <a:solidFill>
            <a:srgbClr val="FFDAB9"/>
          </a:solidFill>
          <a:ln w="7620">
            <a:solidFill>
              <a:srgbClr val="CC9870"/>
            </a:solidFill>
          </a:ln>
          <a:effectLst>
            <a:outerShdw blurRad="127000" dist="762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>
              <a:latin typeface="COMIC MONO" pitchFamily="49" charset="0"/>
            </a:endParaRPr>
          </a:p>
        </p:txBody>
      </p:sp>
      <p:sp>
        <p:nvSpPr>
          <p:cNvPr id="13" name="L2_text"/>
          <p:cNvSpPr/>
          <p:nvPr/>
        </p:nvSpPr>
        <p:spPr>
          <a:xfrm rot="309593">
            <a:off x="371679" y="3089165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9144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Backend Software Engineer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@ Generali Italia</a:t>
            </a:r>
          </a:p>
          <a:p>
            <a:pPr marL="0" indent="0" algn="l">
              <a:buNone/>
            </a:pPr>
            <a:endParaRPr lang="en-US" sz="600" dirty="0"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lucia.castellucci2@studio.unibo.it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1155CC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linkedin.com/in/lucia-castellucci</a:t>
            </a:r>
          </a:p>
        </p:txBody>
      </p:sp>
      <p:sp>
        <p:nvSpPr>
          <p:cNvPr id="20" name="R1_bg"/>
          <p:cNvSpPr/>
          <p:nvPr/>
        </p:nvSpPr>
        <p:spPr>
          <a:xfrm rot="280000">
            <a:off x="4937760" y="1247214"/>
            <a:ext cx="3657600" cy="1554480"/>
          </a:xfrm>
          <a:prstGeom prst="rect">
            <a:avLst/>
          </a:prstGeom>
          <a:solidFill>
            <a:srgbClr val="DFC5F0"/>
          </a:solidFill>
          <a:ln w="7620">
            <a:solidFill>
              <a:srgbClr val="9060B8"/>
            </a:solidFill>
          </a:ln>
          <a:effectLst>
            <a:outerShdw blurRad="127000" dist="762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>
              <a:latin typeface="COMIC MONO" pitchFamily="49" charset="0"/>
            </a:endParaRPr>
          </a:p>
        </p:txBody>
      </p:sp>
      <p:sp>
        <p:nvSpPr>
          <p:cNvPr id="21" name="R1_text"/>
          <p:cNvSpPr/>
          <p:nvPr/>
        </p:nvSpPr>
        <p:spPr>
          <a:xfrm rot="306250">
            <a:off x="5029200" y="1338654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9144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A3A5C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Luca Samore'</a:t>
            </a:r>
          </a:p>
          <a:p>
            <a:pPr marL="0" indent="0" algn="l">
              <a:buNone/>
            </a:pPr>
            <a:r>
              <a:rPr lang="en-US" sz="1200" i="1" dirty="0">
                <a:solidFill>
                  <a:srgbClr val="555555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Cesena</a:t>
            </a:r>
          </a:p>
          <a:p>
            <a:pPr marL="0" indent="0" algn="l">
              <a:buNone/>
            </a:pPr>
            <a:endParaRPr lang="en-US" sz="600" dirty="0"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MSc Student in CSE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University of Bologna</a:t>
            </a:r>
          </a:p>
        </p:txBody>
      </p:sp>
      <p:sp>
        <p:nvSpPr>
          <p:cNvPr id="22" name="R2_bg"/>
          <p:cNvSpPr/>
          <p:nvPr/>
        </p:nvSpPr>
        <p:spPr>
          <a:xfrm rot="-320000">
            <a:off x="4892040" y="2893134"/>
            <a:ext cx="3657600" cy="1554480"/>
          </a:xfrm>
          <a:prstGeom prst="rect">
            <a:avLst/>
          </a:prstGeom>
          <a:solidFill>
            <a:srgbClr val="BAE9C8"/>
          </a:solidFill>
          <a:ln w="7620">
            <a:solidFill>
              <a:srgbClr val="60B880"/>
            </a:solidFill>
          </a:ln>
          <a:effectLst>
            <a:outerShdw blurRad="127000" dist="762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dirty="0">
              <a:latin typeface="COMIC MONO" pitchFamily="49" charset="0"/>
            </a:endParaRPr>
          </a:p>
        </p:txBody>
      </p:sp>
      <p:sp>
        <p:nvSpPr>
          <p:cNvPr id="23" name="R2_text"/>
          <p:cNvSpPr/>
          <p:nvPr/>
        </p:nvSpPr>
        <p:spPr>
          <a:xfrm rot="21260089">
            <a:off x="5029200" y="2984574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9144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Software Engineer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@ Iron Lynx Motorsport Lab</a:t>
            </a:r>
          </a:p>
          <a:p>
            <a:pPr marL="0" indent="0" algn="l">
              <a:buNone/>
            </a:pPr>
            <a:endParaRPr lang="en-US" sz="600" dirty="0">
              <a:latin typeface="Comic Sans MS" panose="030F0702030302020204" pitchFamily="66" charset="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luca.samore@studio.unibo.it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1155CC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linkedin.com/in/luca-samore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9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2800" b="1" dirty="0">
                <a:latin typeface="Comic Sans MS" panose="030F0702030302020204" pitchFamily="66" charset="0"/>
              </a:rPr>
              <a:t>Domain </a:t>
            </a:r>
            <a:r>
              <a:rPr lang="it-IT" sz="2800" b="1" dirty="0" err="1">
                <a:latin typeface="Comic Sans MS" panose="030F0702030302020204" pitchFamily="66" charset="0"/>
              </a:rPr>
              <a:t>Driven</a:t>
            </a:r>
            <a:r>
              <a:rPr lang="it-IT" sz="2800" b="1" dirty="0">
                <a:latin typeface="Comic Sans MS" panose="030F0702030302020204" pitchFamily="66" charset="0"/>
              </a:rPr>
              <a:t> Design (recap)</a:t>
            </a:r>
            <a:endParaRPr lang="en-US" sz="2800" b="1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222222"/>
                </a:solidFill>
                <a:latin typeface="Comic Sans MS" panose="030F0702030302020204" pitchFamily="66" charset="0"/>
              </a:rPr>
              <a:t>Domain-Driven Design (DDD)</a:t>
            </a:r>
            <a:r>
              <a:rPr lang="en-US" sz="1200" dirty="0">
                <a:solidFill>
                  <a:srgbClr val="222222"/>
                </a:solidFill>
                <a:latin typeface="Comic Sans MS" panose="030F0702030302020204" pitchFamily="66" charset="0"/>
              </a:rPr>
              <a:t> is a </a:t>
            </a:r>
            <a:r>
              <a:rPr lang="en-US" sz="1200" i="1" dirty="0">
                <a:solidFill>
                  <a:srgbClr val="222222"/>
                </a:solidFill>
                <a:latin typeface="Comic Sans MS" panose="030F0702030302020204" pitchFamily="66" charset="0"/>
              </a:rPr>
              <a:t>s</a:t>
            </a:r>
            <a:r>
              <a:rPr lang="it-IT" sz="1200" i="1" dirty="0" err="1">
                <a:latin typeface="Comic Sans MS" panose="030F0702030302020204" pitchFamily="66" charset="0"/>
              </a:rPr>
              <a:t>tructured</a:t>
            </a:r>
            <a:r>
              <a:rPr lang="it-IT" sz="1200" i="1" dirty="0">
                <a:latin typeface="Comic Sans MS" panose="030F0702030302020204" pitchFamily="66" charset="0"/>
              </a:rPr>
              <a:t> software design </a:t>
            </a:r>
            <a:r>
              <a:rPr lang="it-IT" sz="1200" i="1" dirty="0" err="1">
                <a:latin typeface="Comic Sans MS" panose="030F0702030302020204" pitchFamily="66" charset="0"/>
              </a:rPr>
              <a:t>process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that</a:t>
            </a:r>
            <a:r>
              <a:rPr lang="it-IT" sz="1200" dirty="0">
                <a:latin typeface="Comic Sans MS" panose="030F0702030302020204" pitchFamily="66" charset="0"/>
              </a:rPr>
              <a:t> places the business domain </a:t>
            </a:r>
            <a:r>
              <a:rPr lang="it-IT" sz="1200" dirty="0" err="1">
                <a:latin typeface="Comic Sans MS" panose="030F0702030302020204" pitchFamily="66" charset="0"/>
              </a:rPr>
              <a:t>at</a:t>
            </a:r>
            <a:r>
              <a:rPr lang="it-IT" sz="1200" dirty="0">
                <a:latin typeface="Comic Sans MS" panose="030F0702030302020204" pitchFamily="66" charset="0"/>
              </a:rPr>
              <a:t> the </a:t>
            </a:r>
            <a:r>
              <a:rPr lang="it-IT" sz="1200" i="1" dirty="0">
                <a:latin typeface="Comic Sans MS" panose="030F0702030302020204" pitchFamily="66" charset="0"/>
              </a:rPr>
              <a:t>center</a:t>
            </a:r>
            <a:r>
              <a:rPr lang="it-IT" sz="1200" dirty="0">
                <a:latin typeface="Comic Sans MS" panose="030F0702030302020204" pitchFamily="66" charset="0"/>
              </a:rPr>
              <a:t> of the design </a:t>
            </a:r>
            <a:r>
              <a:rPr lang="it-IT" sz="1200" dirty="0" err="1">
                <a:latin typeface="Comic Sans MS" panose="030F0702030302020204" pitchFamily="66" charset="0"/>
              </a:rPr>
              <a:t>process</a:t>
            </a:r>
            <a:r>
              <a:rPr lang="it-IT" sz="1200" dirty="0">
                <a:latin typeface="Comic Sans MS" panose="030F0702030302020204" pitchFamily="66" charset="0"/>
              </a:rPr>
              <a:t>, </a:t>
            </a:r>
            <a:r>
              <a:rPr lang="it-IT" sz="1200" dirty="0" err="1">
                <a:latin typeface="Comic Sans MS" panose="030F0702030302020204" pitchFamily="66" charset="0"/>
              </a:rPr>
              <a:t>ensuring</a:t>
            </a:r>
            <a:r>
              <a:rPr lang="it-IT" sz="1200" dirty="0">
                <a:latin typeface="Comic Sans MS" panose="030F0702030302020204" pitchFamily="66" charset="0"/>
              </a:rPr>
              <a:t> the software model </a:t>
            </a:r>
            <a:r>
              <a:rPr lang="it-IT" sz="1200" dirty="0" err="1">
                <a:latin typeface="Comic Sans MS" panose="030F0702030302020204" pitchFamily="66" charset="0"/>
              </a:rPr>
              <a:t>reflects</a:t>
            </a:r>
            <a:r>
              <a:rPr lang="it-IT" sz="1200" dirty="0">
                <a:latin typeface="Comic Sans MS" panose="030F0702030302020204" pitchFamily="66" charset="0"/>
              </a:rPr>
              <a:t> the </a:t>
            </a:r>
            <a:r>
              <a:rPr lang="it-IT" sz="1200" dirty="0" err="1">
                <a:latin typeface="Comic Sans MS" panose="030F0702030302020204" pitchFamily="66" charset="0"/>
              </a:rPr>
              <a:t>real</a:t>
            </a:r>
            <a:r>
              <a:rPr lang="it-IT" sz="1200" dirty="0">
                <a:latin typeface="Comic Sans MS" panose="030F0702030302020204" pitchFamily="66" charset="0"/>
              </a:rPr>
              <a:t>-world </a:t>
            </a:r>
            <a:r>
              <a:rPr lang="it-IT" sz="1200" dirty="0" err="1">
                <a:latin typeface="Comic Sans MS" panose="030F0702030302020204" pitchFamily="66" charset="0"/>
              </a:rPr>
              <a:t>problem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space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faithfully</a:t>
            </a:r>
            <a:r>
              <a:rPr lang="it-IT" sz="1200" dirty="0"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it-IT" sz="1200" dirty="0">
              <a:solidFill>
                <a:srgbClr val="222222"/>
              </a:solidFill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9060B8"/>
                </a:solidFill>
                <a:latin typeface="Comic Sans MS" panose="030F0702030302020204" pitchFamily="66" charset="0"/>
              </a:rPr>
              <a:t>2003</a:t>
            </a:r>
            <a:r>
              <a:rPr lang="en-US" sz="1200" dirty="0">
                <a:solidFill>
                  <a:srgbClr val="222222"/>
                </a:solidFill>
                <a:latin typeface="Comic Sans MS" panose="030F0702030302020204" pitchFamily="66" charset="0"/>
              </a:rPr>
              <a:t>  Eric Evans publishes “</a:t>
            </a:r>
            <a:r>
              <a:rPr lang="en-US" sz="1200" i="1" dirty="0">
                <a:solidFill>
                  <a:srgbClr val="222222"/>
                </a:solidFill>
                <a:latin typeface="Comic Sans MS" panose="030F0702030302020204" pitchFamily="66" charset="0"/>
              </a:rPr>
              <a:t>Domain-Driven Design: Tackling Complexity in the Heart of Software”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22222"/>
                </a:solidFill>
                <a:latin typeface="Comic Sans MS" panose="030F0702030302020204" pitchFamily="66" charset="0"/>
              </a:rPr>
              <a:t>(the "</a:t>
            </a:r>
            <a:r>
              <a:rPr lang="en-US" sz="1200" dirty="0">
                <a:solidFill>
                  <a:srgbClr val="00B0F0"/>
                </a:solidFill>
                <a:latin typeface="Comic Sans MS" panose="030F0702030302020204" pitchFamily="66" charset="0"/>
              </a:rPr>
              <a:t>Blue Book</a:t>
            </a:r>
            <a:r>
              <a:rPr lang="en-US" sz="1200" dirty="0">
                <a:solidFill>
                  <a:srgbClr val="222222"/>
                </a:solidFill>
                <a:latin typeface="Comic Sans MS" panose="030F0702030302020204" pitchFamily="66" charset="0"/>
              </a:rPr>
              <a:t>"), formally introducing the DDD vocabulary, strategic patterns, and tactical building blocks.</a:t>
            </a:r>
          </a:p>
          <a:p>
            <a:pPr>
              <a:lnSpc>
                <a:spcPct val="150000"/>
              </a:lnSpc>
            </a:pPr>
            <a:endParaRPr lang="en-US" sz="700" dirty="0"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9060B8"/>
                </a:solidFill>
                <a:latin typeface="Comic Sans MS" panose="030F0702030302020204" pitchFamily="66" charset="0"/>
              </a:rPr>
              <a:t>2013</a:t>
            </a:r>
            <a:r>
              <a:rPr lang="en-US" sz="1200" dirty="0">
                <a:solidFill>
                  <a:srgbClr val="222222"/>
                </a:solidFill>
                <a:latin typeface="Comic Sans MS" panose="030F0702030302020204" pitchFamily="66" charset="0"/>
              </a:rPr>
              <a:t>  Vaughn Vernon publishes “</a:t>
            </a:r>
            <a:r>
              <a:rPr lang="en-US" sz="1200" i="1" dirty="0">
                <a:solidFill>
                  <a:srgbClr val="222222"/>
                </a:solidFill>
                <a:latin typeface="Comic Sans MS" panose="030F0702030302020204" pitchFamily="66" charset="0"/>
              </a:rPr>
              <a:t>Implementing Domain-Driven Design”</a:t>
            </a:r>
            <a:r>
              <a:rPr lang="en-US" sz="1200" dirty="0">
                <a:solidFill>
                  <a:srgbClr val="222222"/>
                </a:solidFill>
                <a:latin typeface="Comic Sans MS" panose="030F0702030302020204" pitchFamily="66" charset="0"/>
              </a:rPr>
              <a:t>, making DDD more implementation-focused. Alberto Brandolini introduces Event Storming as a collaborative DDD discovery technique.</a:t>
            </a:r>
          </a:p>
          <a:p>
            <a:pPr>
              <a:lnSpc>
                <a:spcPct val="150000"/>
              </a:lnSpc>
            </a:pPr>
            <a:endParaRPr lang="en-US" sz="700" dirty="0"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9060B8"/>
                </a:solidFill>
                <a:latin typeface="Comic Sans MS" panose="030F0702030302020204" pitchFamily="66" charset="0"/>
              </a:rPr>
              <a:t>2014–present</a:t>
            </a:r>
            <a:r>
              <a:rPr lang="en-US" sz="1200" dirty="0">
                <a:solidFill>
                  <a:srgbClr val="222222"/>
                </a:solidFill>
                <a:latin typeface="Comic Sans MS" panose="030F0702030302020204" pitchFamily="66" charset="0"/>
              </a:rPr>
              <a:t>  DDD heavily influences microservices architecture. Bounded Contexts, CQRS, and Domain Events become central to modern distributed system design.</a:t>
            </a:r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FFB3BA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Complexity is our enemy</a:t>
            </a:r>
            <a:endParaRPr lang="en-US" sz="2800" b="1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i="1" dirty="0">
                <a:solidFill>
                  <a:srgbClr val="444444"/>
                </a:solidFill>
                <a:latin typeface="Comic Sans MS" panose="030F0702030302020204" pitchFamily="66" charset="0"/>
              </a:rPr>
              <a:t>“Complexity</a:t>
            </a:r>
            <a:r>
              <a:rPr lang="en-US" sz="1200" i="1" dirty="0">
                <a:solidFill>
                  <a:srgbClr val="444444"/>
                </a:solidFill>
                <a:latin typeface="Comic Sans MS" panose="030F0702030302020204" pitchFamily="66" charset="0"/>
              </a:rPr>
              <a:t> is anything related to the structure of a software system that makes it hard to understand and modify the system.” </a:t>
            </a:r>
            <a:r>
              <a:rPr lang="en-US" sz="1200" i="1" dirty="0">
                <a:latin typeface="Comic Sans MS" panose="030F0702030302020204" pitchFamily="66" charset="0"/>
              </a:rPr>
              <a:t>– </a:t>
            </a:r>
            <a:r>
              <a:rPr lang="en-US" sz="1200" dirty="0">
                <a:latin typeface="Comic Sans MS" panose="030F0702030302020204" pitchFamily="66" charset="0"/>
              </a:rPr>
              <a:t>John Ousterhout, A philosophy of software design.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200" dirty="0">
              <a:solidFill>
                <a:srgbClr val="444444"/>
              </a:solidFill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it-IT" sz="1200" dirty="0">
                <a:latin typeface="Comic Sans MS" panose="030F0702030302020204" pitchFamily="66" charset="0"/>
              </a:rPr>
              <a:t>In large software systems, the </a:t>
            </a:r>
            <a:r>
              <a:rPr lang="it-IT" sz="1200" dirty="0" err="1">
                <a:latin typeface="Comic Sans MS" panose="030F0702030302020204" pitchFamily="66" charset="0"/>
              </a:rPr>
              <a:t>primary</a:t>
            </a:r>
            <a:r>
              <a:rPr lang="it-IT" sz="1200" dirty="0">
                <a:latin typeface="Comic Sans MS" panose="030F0702030302020204" pitchFamily="66" charset="0"/>
              </a:rPr>
              <a:t> source of </a:t>
            </a:r>
            <a:r>
              <a:rPr lang="it-IT" sz="1200" dirty="0" err="1">
                <a:latin typeface="Comic Sans MS" panose="030F0702030302020204" pitchFamily="66" charset="0"/>
              </a:rPr>
              <a:t>complexity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is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not</a:t>
            </a:r>
            <a:r>
              <a:rPr lang="it-IT" sz="1200" dirty="0">
                <a:latin typeface="Comic Sans MS" panose="030F0702030302020204" pitchFamily="66" charset="0"/>
              </a:rPr>
              <a:t> the </a:t>
            </a:r>
            <a:r>
              <a:rPr lang="it-IT" sz="1200" dirty="0" err="1">
                <a:latin typeface="Comic Sans MS" panose="030F0702030302020204" pitchFamily="66" charset="0"/>
              </a:rPr>
              <a:t>technology</a:t>
            </a:r>
            <a:r>
              <a:rPr lang="it-IT" sz="1200" dirty="0">
                <a:latin typeface="Comic Sans MS" panose="030F0702030302020204" pitchFamily="66" charset="0"/>
              </a:rPr>
              <a:t>, </a:t>
            </a:r>
            <a:r>
              <a:rPr lang="it-IT" sz="1200" dirty="0" err="1">
                <a:latin typeface="Comic Sans MS" panose="030F0702030302020204" pitchFamily="66" charset="0"/>
              </a:rPr>
              <a:t>but</a:t>
            </a:r>
            <a:r>
              <a:rPr lang="it-IT" sz="1200" dirty="0">
                <a:latin typeface="Comic Sans MS" panose="030F0702030302020204" pitchFamily="66" charset="0"/>
              </a:rPr>
              <a:t> the domain </a:t>
            </a:r>
            <a:r>
              <a:rPr lang="it-IT" sz="1200" dirty="0" err="1">
                <a:latin typeface="Comic Sans MS" panose="030F0702030302020204" pitchFamily="66" charset="0"/>
              </a:rPr>
              <a:t>itself</a:t>
            </a:r>
            <a:r>
              <a:rPr lang="it-IT" sz="1200" dirty="0"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it-IT" sz="1200" dirty="0">
              <a:solidFill>
                <a:srgbClr val="444444"/>
              </a:solidFill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it-IT" sz="1200" dirty="0" err="1">
                <a:latin typeface="Comic Sans MS" panose="030F0702030302020204" pitchFamily="66" charset="0"/>
              </a:rPr>
              <a:t>There</a:t>
            </a:r>
            <a:r>
              <a:rPr lang="it-IT" sz="1200" dirty="0">
                <a:latin typeface="Comic Sans MS" panose="030F0702030302020204" pitchFamily="66" charset="0"/>
              </a:rPr>
              <a:t> are </a:t>
            </a:r>
            <a:r>
              <a:rPr lang="it-IT" sz="1200" dirty="0" err="1">
                <a:latin typeface="Comic Sans MS" panose="030F0702030302020204" pitchFamily="66" charset="0"/>
              </a:rPr>
              <a:t>two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kinds</a:t>
            </a:r>
            <a:r>
              <a:rPr lang="it-IT" sz="1200" dirty="0">
                <a:latin typeface="Comic Sans MS" panose="030F0702030302020204" pitchFamily="66" charset="0"/>
              </a:rPr>
              <a:t> of </a:t>
            </a:r>
            <a:r>
              <a:rPr lang="it-IT" sz="1200" dirty="0" err="1">
                <a:latin typeface="Comic Sans MS" panose="030F0702030302020204" pitchFamily="66" charset="0"/>
              </a:rPr>
              <a:t>complexity</a:t>
            </a:r>
            <a:r>
              <a:rPr lang="it-IT" sz="1200" dirty="0">
                <a:latin typeface="Comic Sans MS" panose="030F0702030302020204" pitchFamily="66" charset="0"/>
              </a:rPr>
              <a:t> in software:</a:t>
            </a:r>
            <a:endParaRPr lang="en-US" sz="1200" i="1" dirty="0">
              <a:solidFill>
                <a:srgbClr val="444444"/>
              </a:solidFill>
              <a:latin typeface="Comic Sans MS" panose="030F0702030302020204" pitchFamily="66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it-IT" sz="1200" b="1" dirty="0" err="1">
                <a:latin typeface="Comic Sans MS" panose="030F0702030302020204" pitchFamily="66" charset="0"/>
              </a:rPr>
              <a:t>Essential</a:t>
            </a:r>
            <a:r>
              <a:rPr lang="it-IT" sz="1200" b="1" dirty="0">
                <a:latin typeface="Comic Sans MS" panose="030F0702030302020204" pitchFamily="66" charset="0"/>
              </a:rPr>
              <a:t> </a:t>
            </a:r>
            <a:r>
              <a:rPr lang="it-IT" sz="1200" b="1" dirty="0" err="1">
                <a:latin typeface="Comic Sans MS" panose="030F0702030302020204" pitchFamily="66" charset="0"/>
              </a:rPr>
              <a:t>complexity</a:t>
            </a:r>
            <a:r>
              <a:rPr lang="it-IT" sz="1200" dirty="0">
                <a:latin typeface="Comic Sans MS" panose="030F0702030302020204" pitchFamily="66" charset="0"/>
              </a:rPr>
              <a:t>, </a:t>
            </a:r>
            <a:r>
              <a:rPr lang="it-IT" sz="1200" dirty="0" err="1">
                <a:latin typeface="Comic Sans MS" panose="030F0702030302020204" pitchFamily="66" charset="0"/>
              </a:rPr>
              <a:t>which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is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inherent</a:t>
            </a:r>
            <a:r>
              <a:rPr lang="it-IT" sz="1200" dirty="0">
                <a:latin typeface="Comic Sans MS" panose="030F0702030302020204" pitchFamily="66" charset="0"/>
              </a:rPr>
              <a:t> to the business </a:t>
            </a:r>
            <a:r>
              <a:rPr lang="it-IT" sz="1200" dirty="0" err="1">
                <a:latin typeface="Comic Sans MS" panose="030F0702030302020204" pitchFamily="66" charset="0"/>
              </a:rPr>
              <a:t>problem</a:t>
            </a:r>
            <a:r>
              <a:rPr lang="it-IT" sz="1200" dirty="0">
                <a:latin typeface="Comic Sans MS" panose="030F0702030302020204" pitchFamily="66" charset="0"/>
              </a:rPr>
              <a:t>. </a:t>
            </a:r>
            <a:r>
              <a:rPr lang="it-IT" sz="1200" dirty="0" err="1">
                <a:latin typeface="Comic Sans MS" panose="030F0702030302020204" pitchFamily="66" charset="0"/>
              </a:rPr>
              <a:t>We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cannot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completely</a:t>
            </a:r>
            <a:r>
              <a:rPr lang="it-IT" sz="1200" dirty="0">
                <a:latin typeface="Comic Sans MS" panose="030F0702030302020204" pitchFamily="66" charset="0"/>
              </a:rPr>
              <a:t> eliminate </a:t>
            </a:r>
            <a:r>
              <a:rPr lang="it-IT" sz="1200" dirty="0" err="1">
                <a:latin typeface="Comic Sans MS" panose="030F0702030302020204" pitchFamily="66" charset="0"/>
              </a:rPr>
              <a:t>it</a:t>
            </a:r>
            <a:r>
              <a:rPr lang="it-IT" sz="1200" dirty="0">
                <a:latin typeface="Comic Sans MS" panose="030F0702030302020204" pitchFamily="66" charset="0"/>
              </a:rPr>
              <a:t>; </a:t>
            </a:r>
            <a:r>
              <a:rPr lang="it-IT" sz="1200" dirty="0" err="1">
                <a:latin typeface="Comic Sans MS" panose="030F0702030302020204" pitchFamily="66" charset="0"/>
              </a:rPr>
              <a:t>we</a:t>
            </a:r>
            <a:r>
              <a:rPr lang="it-IT" sz="1200" dirty="0">
                <a:latin typeface="Comic Sans MS" panose="030F0702030302020204" pitchFamily="66" charset="0"/>
              </a:rPr>
              <a:t> can </a:t>
            </a:r>
            <a:r>
              <a:rPr lang="it-IT" sz="1200" dirty="0" err="1">
                <a:latin typeface="Comic Sans MS" panose="030F0702030302020204" pitchFamily="66" charset="0"/>
              </a:rPr>
              <a:t>only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manage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it</a:t>
            </a:r>
            <a:r>
              <a:rPr lang="it-IT" sz="1200" dirty="0">
                <a:latin typeface="Comic Sans MS" panose="030F0702030302020204" pitchFamily="66" charset="0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it-IT" sz="1200" b="1" dirty="0" err="1">
                <a:latin typeface="Comic Sans MS" panose="030F0702030302020204" pitchFamily="66" charset="0"/>
              </a:rPr>
              <a:t>Accidental</a:t>
            </a:r>
            <a:r>
              <a:rPr lang="it-IT" sz="1200" b="1" dirty="0">
                <a:latin typeface="Comic Sans MS" panose="030F0702030302020204" pitchFamily="66" charset="0"/>
              </a:rPr>
              <a:t> </a:t>
            </a:r>
            <a:r>
              <a:rPr lang="it-IT" sz="1200" b="1" dirty="0" err="1">
                <a:latin typeface="Comic Sans MS" panose="030F0702030302020204" pitchFamily="66" charset="0"/>
              </a:rPr>
              <a:t>complexity</a:t>
            </a:r>
            <a:r>
              <a:rPr lang="it-IT" sz="1200" dirty="0">
                <a:latin typeface="Comic Sans MS" panose="030F0702030302020204" pitchFamily="66" charset="0"/>
              </a:rPr>
              <a:t>, </a:t>
            </a:r>
            <a:r>
              <a:rPr lang="it-IT" sz="1200" dirty="0" err="1">
                <a:latin typeface="Comic Sans MS" panose="030F0702030302020204" pitchFamily="66" charset="0"/>
              </a:rPr>
              <a:t>which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is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introduced</a:t>
            </a:r>
            <a:r>
              <a:rPr lang="it-IT" sz="1200" dirty="0">
                <a:latin typeface="Comic Sans MS" panose="030F0702030302020204" pitchFamily="66" charset="0"/>
              </a:rPr>
              <a:t> by </a:t>
            </a:r>
            <a:r>
              <a:rPr lang="it-IT" sz="1200" dirty="0" err="1">
                <a:latin typeface="Comic Sans MS" panose="030F0702030302020204" pitchFamily="66" charset="0"/>
              </a:rPr>
              <a:t>poor</a:t>
            </a:r>
            <a:r>
              <a:rPr lang="it-IT" sz="1200" dirty="0">
                <a:latin typeface="Comic Sans MS" panose="030F0702030302020204" pitchFamily="66" charset="0"/>
              </a:rPr>
              <a:t> design </a:t>
            </a:r>
            <a:r>
              <a:rPr lang="it-IT" sz="1200" dirty="0" err="1">
                <a:latin typeface="Comic Sans MS" panose="030F0702030302020204" pitchFamily="66" charset="0"/>
              </a:rPr>
              <a:t>choices</a:t>
            </a:r>
            <a:r>
              <a:rPr lang="it-IT" sz="1200" dirty="0">
                <a:latin typeface="Comic Sans MS" panose="030F0702030302020204" pitchFamily="66" charset="0"/>
              </a:rPr>
              <a:t>, </a:t>
            </a:r>
            <a:r>
              <a:rPr lang="it-IT" sz="1200" dirty="0" err="1">
                <a:latin typeface="Comic Sans MS" panose="030F0702030302020204" pitchFamily="66" charset="0"/>
              </a:rPr>
              <a:t>misunderstood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requirements</a:t>
            </a:r>
            <a:r>
              <a:rPr lang="it-IT" sz="1200" dirty="0">
                <a:latin typeface="Comic Sans MS" panose="030F0702030302020204" pitchFamily="66" charset="0"/>
              </a:rPr>
              <a:t>, and </a:t>
            </a:r>
            <a:r>
              <a:rPr lang="it-IT" sz="1200" dirty="0" err="1">
                <a:latin typeface="Comic Sans MS" panose="030F0702030302020204" pitchFamily="66" charset="0"/>
              </a:rPr>
              <a:t>broken</a:t>
            </a:r>
            <a:r>
              <a:rPr lang="it-IT" sz="1200" dirty="0">
                <a:latin typeface="Comic Sans MS" panose="030F0702030302020204" pitchFamily="66" charset="0"/>
              </a:rPr>
              <a:t> </a:t>
            </a:r>
            <a:r>
              <a:rPr lang="it-IT" sz="1200" dirty="0" err="1">
                <a:latin typeface="Comic Sans MS" panose="030F0702030302020204" pitchFamily="66" charset="0"/>
              </a:rPr>
              <a:t>communication</a:t>
            </a:r>
            <a:r>
              <a:rPr lang="it-IT" sz="1200" dirty="0">
                <a:latin typeface="Comic Sans MS" panose="030F0702030302020204" pitchFamily="66" charset="0"/>
              </a:rPr>
              <a:t>. </a:t>
            </a:r>
            <a:r>
              <a:rPr lang="it-IT" sz="1200" dirty="0" err="1">
                <a:latin typeface="Comic Sans MS" panose="030F0702030302020204" pitchFamily="66" charset="0"/>
              </a:rPr>
              <a:t>This</a:t>
            </a:r>
            <a:r>
              <a:rPr lang="it-IT" sz="1200" dirty="0">
                <a:latin typeface="Comic Sans MS" panose="030F0702030302020204" pitchFamily="66" charset="0"/>
              </a:rPr>
              <a:t> must be </a:t>
            </a:r>
            <a:r>
              <a:rPr lang="it-IT" sz="1200" i="1" dirty="0" err="1">
                <a:latin typeface="Comic Sans MS" panose="030F0702030302020204" pitchFamily="66" charset="0"/>
              </a:rPr>
              <a:t>minimized</a:t>
            </a:r>
            <a:r>
              <a:rPr lang="it-IT" sz="1200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DFC5F0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2800" b="1" dirty="0" err="1">
                <a:latin typeface="Comic Sans MS" panose="030F0702030302020204" pitchFamily="66" charset="0"/>
              </a:rPr>
              <a:t>Problems</a:t>
            </a:r>
            <a:r>
              <a:rPr lang="it-IT" sz="2800" b="1" dirty="0">
                <a:latin typeface="Comic Sans MS" panose="030F0702030302020204" pitchFamily="66" charset="0"/>
              </a:rPr>
              <a:t> with </a:t>
            </a:r>
            <a:r>
              <a:rPr lang="it-IT" sz="2800" b="1" dirty="0" err="1">
                <a:latin typeface="Comic Sans MS" panose="030F0702030302020204" pitchFamily="66" charset="0"/>
              </a:rPr>
              <a:t>unmanaged</a:t>
            </a:r>
            <a:r>
              <a:rPr lang="it-IT" sz="2800" b="1" dirty="0">
                <a:latin typeface="Comic Sans MS" panose="030F0702030302020204" pitchFamily="66" charset="0"/>
              </a:rPr>
              <a:t> </a:t>
            </a:r>
            <a:r>
              <a:rPr lang="it-IT" sz="2800" b="1" dirty="0" err="1">
                <a:latin typeface="Comic Sans MS" panose="030F0702030302020204" pitchFamily="66" charset="0"/>
              </a:rPr>
              <a:t>complexity</a:t>
            </a:r>
            <a:endParaRPr lang="en-US" sz="2800" b="1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060B8"/>
                </a:solidFill>
                <a:latin typeface="Comic Sans MS" pitchFamily="34" charset="0"/>
              </a:rPr>
              <a:t>Communication gap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 Developers and domain experts speak different languages. Requirements are mistranslated into code, and misalignments accumulate silently over time.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200" dirty="0">
              <a:solidFill>
                <a:srgbClr val="222222"/>
              </a:solidFill>
              <a:latin typeface="Comic Sans MS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060B8"/>
                </a:solidFill>
                <a:latin typeface="Comic Sans MS" pitchFamily="34" charset="0"/>
              </a:rPr>
              <a:t>Anemic Domain Model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 Business logic is scattered across services, utility classes, and procedural scripts. No central model embodies domain knowledge; objects become mere data containers.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200" b="1" dirty="0">
              <a:solidFill>
                <a:srgbClr val="9060B8"/>
              </a:solidFill>
              <a:latin typeface="Comic Sans MS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060B8"/>
                </a:solidFill>
                <a:latin typeface="Comic Sans MS" pitchFamily="34" charset="0"/>
              </a:rPr>
              <a:t>Big Ball of Mud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 No clear structural boundaries: every part of the system depends on every other. Any change carries unpredictable ripple effects, making evolution expensive and risky.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200" b="1" dirty="0">
              <a:solidFill>
                <a:srgbClr val="9060B8"/>
              </a:solidFill>
              <a:latin typeface="Comic Sans MS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9060B8"/>
                </a:solidFill>
                <a:latin typeface="Comic Sans MS" pitchFamily="34" charset="0"/>
              </a:rPr>
              <a:t>Implicit knowledge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 Critical business rules live only in domain experts' minds or buried in opaque code. There is no shared, explicit representation of the domain's invariants and policies.</a:t>
            </a:r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9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2800" b="1" dirty="0">
                <a:latin typeface="Comic Sans MS" panose="030F0702030302020204" pitchFamily="66" charset="0"/>
              </a:rPr>
              <a:t>Strategic vs. </a:t>
            </a:r>
            <a:r>
              <a:rPr lang="it-IT" sz="2800" b="1" dirty="0" err="1">
                <a:latin typeface="Comic Sans MS" panose="030F0702030302020204" pitchFamily="66" charset="0"/>
              </a:rPr>
              <a:t>Tactical</a:t>
            </a:r>
            <a:r>
              <a:rPr lang="it-IT" sz="2800" b="1" dirty="0">
                <a:latin typeface="Comic Sans MS" panose="030F0702030302020204" pitchFamily="66" charset="0"/>
              </a:rPr>
              <a:t> Design</a:t>
            </a:r>
            <a:endParaRPr lang="en-US" sz="2800" b="1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DDD addresses domain complexity through two complementary layers: </a:t>
            </a: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Strategic Design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and </a:t>
            </a: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Tactical Design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.</a:t>
            </a:r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60B880"/>
                </a:solidFill>
                <a:latin typeface="Comic Sans MS" pitchFamily="34" charset="0"/>
              </a:rPr>
              <a:t>Strategic Design</a:t>
            </a:r>
            <a:r>
              <a:rPr lang="en-US" sz="1100" i="1" dirty="0">
                <a:solidFill>
                  <a:srgbClr val="555555"/>
                </a:solidFill>
                <a:latin typeface="Comic Sans MS" pitchFamily="34" charset="0"/>
              </a:rPr>
              <a:t> — defines the large-scale structure through three key tools:</a:t>
            </a:r>
          </a:p>
          <a:p>
            <a:pPr marL="114300"/>
            <a:r>
              <a:rPr lang="en-US" sz="1100" b="1" dirty="0">
                <a:solidFill>
                  <a:srgbClr val="222222"/>
                </a:solidFill>
                <a:latin typeface="Comic Sans MS" pitchFamily="34" charset="0"/>
              </a:rPr>
              <a:t>Bounded Context</a:t>
            </a:r>
            <a:r>
              <a:rPr lang="en-US" sz="1100" dirty="0">
                <a:solidFill>
                  <a:srgbClr val="222222"/>
                </a:solidFill>
                <a:latin typeface="Comic Sans MS" pitchFamily="34" charset="0"/>
              </a:rPr>
              <a:t>  An explicit boundary within which a model is valid. Prevents concepts from different sub-domains from contaminating one another.</a:t>
            </a:r>
            <a:endParaRPr lang="en-US" sz="1100" b="1" dirty="0">
              <a:solidFill>
                <a:srgbClr val="222222"/>
              </a:solidFill>
              <a:latin typeface="Comic Sans MS" pitchFamily="34" charset="0"/>
            </a:endParaRPr>
          </a:p>
          <a:p>
            <a:pPr marL="11430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Comic Sans MS" pitchFamily="34" charset="0"/>
              </a:rPr>
              <a:t>Ubiquitous Language</a:t>
            </a:r>
            <a:r>
              <a:rPr lang="en-US" sz="1100" dirty="0">
                <a:solidFill>
                  <a:srgbClr val="222222"/>
                </a:solidFill>
                <a:latin typeface="Comic Sans MS" pitchFamily="34" charset="0"/>
              </a:rPr>
              <a:t>  A shared, precise vocabulary co-created by developers and domain experts; used consistently in code, conversation, and documentation. Eliminates translation errors.</a:t>
            </a:r>
          </a:p>
          <a:p>
            <a:pPr marL="11430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Comic Sans MS" pitchFamily="34" charset="0"/>
              </a:rPr>
              <a:t>Context Map</a:t>
            </a:r>
            <a:r>
              <a:rPr lang="en-US" sz="1100" dirty="0">
                <a:solidFill>
                  <a:srgbClr val="222222"/>
                </a:solidFill>
                <a:latin typeface="Comic Sans MS" pitchFamily="34" charset="0"/>
              </a:rPr>
              <a:t>  A visual diagram of all bounded contexts and their integration relationships (e.g. Customer/Supplier, Shared Kernel, Anti-Corruption Layer).</a:t>
            </a:r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60B880"/>
                </a:solidFill>
                <a:latin typeface="Comic Sans MS" pitchFamily="34" charset="0"/>
              </a:rPr>
              <a:t>Tactical Design</a:t>
            </a:r>
            <a:r>
              <a:rPr lang="en-US" sz="1100" i="1" dirty="0">
                <a:solidFill>
                  <a:srgbClr val="555555"/>
                </a:solidFill>
                <a:latin typeface="Comic Sans MS" pitchFamily="34" charset="0"/>
              </a:rPr>
              <a:t> — the building blocks inside each bounded context:</a:t>
            </a:r>
          </a:p>
          <a:p>
            <a:pPr marL="11430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Comic Sans MS" pitchFamily="34" charset="0"/>
              </a:rPr>
              <a:t>Entities &amp; Value Objects</a:t>
            </a:r>
            <a:r>
              <a:rPr lang="en-US" sz="1100" dirty="0">
                <a:solidFill>
                  <a:srgbClr val="222222"/>
                </a:solidFill>
                <a:latin typeface="Comic Sans MS" pitchFamily="34" charset="0"/>
              </a:rPr>
              <a:t>  Distinguish identity-based objects (Entity) from value-based ones (Value Object) for precise domain modelling.</a:t>
            </a:r>
          </a:p>
          <a:p>
            <a:pPr marL="11430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Comic Sans MS" pitchFamily="34" charset="0"/>
              </a:rPr>
              <a:t>Aggregates</a:t>
            </a:r>
            <a:r>
              <a:rPr lang="en-US" sz="1100" dirty="0">
                <a:solidFill>
                  <a:srgbClr val="222222"/>
                </a:solidFill>
                <a:latin typeface="Comic Sans MS" pitchFamily="34" charset="0"/>
              </a:rPr>
              <a:t>  Clusters of related objects treated as a single consistency unit, controlled by an Aggregate Root that enforces all invariants.</a:t>
            </a:r>
          </a:p>
          <a:p>
            <a:pPr marL="114300" indent="0" algn="l">
              <a:buNone/>
            </a:pPr>
            <a:r>
              <a:rPr lang="en-US" sz="1100" b="1" dirty="0">
                <a:solidFill>
                  <a:srgbClr val="222222"/>
                </a:solidFill>
                <a:latin typeface="Comic Sans MS" pitchFamily="34" charset="0"/>
              </a:rPr>
              <a:t>Domain Events</a:t>
            </a:r>
            <a:r>
              <a:rPr lang="en-US" sz="1100" dirty="0">
                <a:solidFill>
                  <a:srgbClr val="222222"/>
                </a:solidFill>
                <a:latin typeface="Comic Sans MS" pitchFamily="34" charset="0"/>
              </a:rPr>
              <a:t>  First-class, immutable representations of significant business occurrences; the foundation of Event Storming and event-driven architectures.</a:t>
            </a:r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980BC-69AB-3470-E540-A1E38C2C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BC6258-0F78-EBDC-F8F1-56AB5C28C4F5}"/>
              </a:ext>
            </a:extLst>
          </p:cNvPr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D9EB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13E802-E09C-3960-A15A-4291D3110F93}"/>
              </a:ext>
            </a:extLst>
          </p:cNvPr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it-IT" sz="2800" b="1" dirty="0" err="1">
                <a:latin typeface="Comic Sans MS" panose="030F0702030302020204" pitchFamily="66" charset="0"/>
              </a:rPr>
              <a:t>Questions</a:t>
            </a:r>
            <a:endParaRPr lang="en-US" sz="2800" b="1" dirty="0">
              <a:latin typeface="Comic Sans MS" panose="030F0702030302020204" pitchFamily="66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96A13F2-53C1-D0CD-26C0-118D6184D9B0}"/>
              </a:ext>
            </a:extLst>
          </p:cNvPr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4F857E-E2C7-D6C4-99D2-B97397ADE6CD}"/>
              </a:ext>
            </a:extLst>
          </p:cNvPr>
          <p:cNvSpPr/>
          <p:nvPr/>
        </p:nvSpPr>
        <p:spPr>
          <a:xfrm>
            <a:off x="457200" y="1371599"/>
            <a:ext cx="8229600" cy="2723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222222"/>
                </a:solidFill>
                <a:latin typeface="Comic Sans MS" panose="030F0702030302020204" pitchFamily="66" charset="0"/>
              </a:rPr>
              <a:t>Should you trust the domain experts?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it-IT" sz="2400" dirty="0">
                <a:latin typeface="Comic Sans MS" panose="030F0702030302020204" pitchFamily="66" charset="0"/>
              </a:rPr>
              <a:t>How do </a:t>
            </a:r>
            <a:r>
              <a:rPr lang="it-IT" sz="2400" dirty="0" err="1">
                <a:latin typeface="Comic Sans MS" panose="030F0702030302020204" pitchFamily="66" charset="0"/>
              </a:rPr>
              <a:t>we</a:t>
            </a:r>
            <a:r>
              <a:rPr lang="it-IT" sz="2400" dirty="0">
                <a:latin typeface="Comic Sans MS" panose="030F0702030302020204" pitchFamily="66" charset="0"/>
              </a:rPr>
              <a:t> spot </a:t>
            </a:r>
            <a:r>
              <a:rPr lang="it-IT" sz="2400" dirty="0" err="1">
                <a:latin typeface="Comic Sans MS" panose="030F0702030302020204" pitchFamily="66" charset="0"/>
              </a:rPr>
              <a:t>Bounded</a:t>
            </a:r>
            <a:r>
              <a:rPr lang="it-IT" sz="2400" dirty="0">
                <a:latin typeface="Comic Sans MS" panose="030F0702030302020204" pitchFamily="66" charset="0"/>
              </a:rPr>
              <a:t> </a:t>
            </a:r>
            <a:r>
              <a:rPr lang="it-IT" sz="2400" dirty="0" err="1">
                <a:latin typeface="Comic Sans MS" panose="030F0702030302020204" pitchFamily="66" charset="0"/>
              </a:rPr>
              <a:t>Contexts</a:t>
            </a:r>
            <a:r>
              <a:rPr lang="it-IT" sz="2400" dirty="0">
                <a:latin typeface="Comic Sans MS" panose="030F0702030302020204" pitchFamily="66" charset="0"/>
              </a:rPr>
              <a:t>?</a:t>
            </a:r>
            <a:endParaRPr lang="en-US" sz="2400" dirty="0">
              <a:solidFill>
                <a:srgbClr val="222222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40AA1AB-B173-CDA9-10F0-8C11845EB390}"/>
              </a:ext>
            </a:extLst>
          </p:cNvPr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12DA362-1BB7-03FF-829C-F124B4CBEA28}"/>
              </a:ext>
            </a:extLst>
          </p:cNvPr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5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5196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EventStorming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EventStorming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is a </a:t>
            </a:r>
            <a:r>
              <a:rPr lang="en-US" sz="1200" b="1" i="1" dirty="0">
                <a:solidFill>
                  <a:srgbClr val="222222"/>
                </a:solidFill>
                <a:latin typeface="Comic Sans MS" pitchFamily="34" charset="0"/>
              </a:rPr>
              <a:t>family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of </a:t>
            </a: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collaborative modeling workshop formats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that allows you to explore complex domains effectively and engagingly — by bringing domain experts, developers, and stakeholders together around a shared model.</a:t>
            </a:r>
          </a:p>
          <a:p>
            <a:pPr marL="0" indent="0" algn="l">
              <a:buNone/>
            </a:pPr>
            <a:endParaRPr lang="en-US" sz="6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444444"/>
                </a:solidFill>
                <a:latin typeface="Comic Sans MS" pitchFamily="34" charset="0"/>
              </a:rPr>
              <a:t>It was introduced by Alberto Brandolini in 2013 and has evolved into three distinct, widely adopted variants:</a:t>
            </a:r>
          </a:p>
          <a:p>
            <a:pPr marL="0" indent="0" algn="l">
              <a:buNone/>
            </a:pPr>
            <a:endParaRPr lang="en-US" sz="4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D4660A"/>
                </a:solidFill>
                <a:latin typeface="Comic Sans MS" pitchFamily="34" charset="0"/>
              </a:rPr>
              <a:t>Big Picture EventStorming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— explore an entire business line: discover events, people, systems, pain points, and the most critical bottlenecks.</a:t>
            </a:r>
          </a:p>
          <a:p>
            <a:pPr marL="0" indent="0" algn="l">
              <a:buNone/>
            </a:pPr>
            <a:endParaRPr lang="en-US" sz="3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7D3C98"/>
                </a:solidFill>
                <a:latin typeface="Comic Sans MS" pitchFamily="34" charset="0"/>
              </a:rPr>
              <a:t>Process Modeling EventStorming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— model a specific end-to-end business process in detail: commands, policies, and read models.</a:t>
            </a:r>
          </a:p>
          <a:p>
            <a:pPr marL="0" indent="0" algn="l">
              <a:buNone/>
            </a:pPr>
            <a:endParaRPr lang="en-US" sz="3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5276"/>
                </a:solidFill>
                <a:latin typeface="Comic Sans MS" pitchFamily="34" charset="0"/>
              </a:rPr>
              <a:t>Software Design EventStorming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— design the software model: identify Aggregates and Bounded Contexts aligned with the domain.</a:t>
            </a:r>
          </a:p>
          <a:p>
            <a:pPr marL="0" indent="0" algn="l">
              <a:buNone/>
            </a:pPr>
            <a:endParaRPr lang="en-US" sz="6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555555"/>
                </a:solidFill>
                <a:latin typeface="Comic Sans MS" pitchFamily="34" charset="0"/>
              </a:rPr>
              <a:t>Each format can be used independently or combined into a progressive flow — starting broad and zooming into areas of highest complexity.</a:t>
            </a:r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FFDAB9"/>
          </a:solidFill>
          <a:ln w="6350">
            <a:solidFill>
              <a:srgbClr val="CC987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History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660A"/>
                </a:solidFill>
                <a:latin typeface="Comic Sans MS" pitchFamily="34" charset="0"/>
              </a:rPr>
              <a:t>2013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— Alberto Brandolini publishes </a:t>
            </a:r>
            <a:r>
              <a:rPr lang="en-US" sz="1200" i="1" dirty="0">
                <a:solidFill>
                  <a:srgbClr val="222222"/>
                </a:solidFill>
                <a:latin typeface="Comic Sans MS" pitchFamily="34" charset="0"/>
              </a:rPr>
              <a:t>"Introducing Event Storming"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on his blog, presenting a collaborative workshop for domain modeling based on Domain Events.</a:t>
            </a:r>
          </a:p>
          <a:p>
            <a:pPr marL="0" indent="0" algn="l">
              <a:buNone/>
            </a:pPr>
            <a:endParaRPr lang="en-US" sz="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The format spreads organically through the DDD community. Practitioners adapt it to different contexts, scales, and organizations, gradually revealing its versatility.</a:t>
            </a:r>
          </a:p>
          <a:p>
            <a:pPr marL="0" indent="0" algn="l">
              <a:buNone/>
            </a:pPr>
            <a:endParaRPr lang="en-US" sz="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Over time, </a:t>
            </a: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three distinct variants 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emerge — each suited to a different granularity and purpose: Big Picture, Process Modeling, and Software Design.</a:t>
            </a:r>
          </a:p>
          <a:p>
            <a:pPr marL="0" indent="0" algn="l">
              <a:buNone/>
            </a:pPr>
            <a:endParaRPr lang="en-US" sz="4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7D3C98"/>
                </a:solidFill>
                <a:latin typeface="Comic Sans MS" pitchFamily="34" charset="0"/>
              </a:rPr>
              <a:t>2019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— Brandolini publishes the book </a:t>
            </a:r>
            <a:r>
              <a:rPr lang="en-US" sz="1200" i="1" dirty="0">
                <a:solidFill>
                  <a:srgbClr val="222222"/>
                </a:solidFill>
                <a:latin typeface="Comic Sans MS" pitchFamily="34" charset="0"/>
              </a:rPr>
              <a:t>"Introducing EventStorming"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, formalising the approach, its variants, and the facilitation techniques behind them.</a:t>
            </a:r>
          </a:p>
          <a:p>
            <a:pPr marL="0" indent="0" algn="l">
              <a:buNone/>
            </a:pPr>
            <a:endParaRPr lang="en-US" sz="4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555555"/>
                </a:solidFill>
                <a:latin typeface="Comic Sans MS" pitchFamily="34" charset="0"/>
              </a:rPr>
              <a:t>Today EventStorming is a core technique in the DDD community, widely adopted in organisations that need to align business understanding with software design.</a:t>
            </a:r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FFB3BA"/>
          </a:solidFill>
          <a:ln w="6350">
            <a:solidFill>
              <a:srgbClr val="CC708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(Academic) Case Study: Nucleo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13816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Context: </a:t>
            </a:r>
            <a:r>
              <a:rPr lang="en-US" sz="14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The Italian Fascicolo Sanitario Elettronico (FSE), conceived to centralize citizens health data, operates in practice as a static archive: appointments are scattered across platforms, sharing documents is cumbersome, and managing family health records requires navigating isolated individual accounts.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Nucleo addresses these shortcomings with three core features: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138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Unified Health Records </a:t>
            </a:r>
            <a:r>
              <a:rPr lang="en-US" sz="1400" dirty="0">
                <a:solidFill>
                  <a:srgbClr val="222222"/>
                </a:solidFill>
                <a:latin typeface="Comic Sans MS" pitchFamily="34" charset="0"/>
              </a:rPr>
              <a:t>—</a:t>
            </a:r>
            <a:r>
              <a:rPr lang="en-US" sz="14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unified platform for uploading, reading and downloading medical records</a:t>
            </a:r>
            <a:endParaRPr lang="en-US" sz="1400" dirty="0"/>
          </a:p>
          <a:p>
            <a:r>
              <a:rPr lang="en-US" sz="14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Appointment Booking</a:t>
            </a:r>
            <a:r>
              <a:rPr lang="en-US" sz="14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Comic Sans MS" pitchFamily="34" charset="0"/>
              </a:rPr>
              <a:t>—</a:t>
            </a:r>
            <a:r>
              <a:rPr lang="en-US" sz="14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streamlined booking system replacing fragmented regional platforms</a:t>
            </a:r>
            <a:endParaRPr lang="en-US" sz="1400" dirty="0"/>
          </a:p>
          <a:p>
            <a:r>
              <a:rPr lang="en-US" sz="14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Family Delegation</a:t>
            </a:r>
            <a:r>
              <a:rPr lang="en-US" sz="14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</a:t>
            </a:r>
            <a:r>
              <a:rPr lang="en-US" sz="1400" dirty="0">
                <a:solidFill>
                  <a:srgbClr val="222222"/>
                </a:solidFill>
                <a:latin typeface="Comic Sans MS" pitchFamily="34" charset="0"/>
              </a:rPr>
              <a:t>—</a:t>
            </a:r>
            <a:r>
              <a:rPr lang="en-US" sz="14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 manage health data for the entire family from a single account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666666"/>
                </a:solidFill>
                <a:latin typeface="Comic Sans MS" pitchFamily="34" charset="0"/>
              </a:rPr>
              <a:t>GitHub Repo: </a:t>
            </a:r>
            <a:r>
              <a:rPr lang="en-US" sz="1400" i="1" dirty="0">
                <a:solidFill>
                  <a:srgbClr val="666666"/>
                </a:solidFill>
                <a:latin typeface="Comic Sans MS" pitchFamily="34" charset="0"/>
                <a:hlinkClick r:id="rId3"/>
              </a:rPr>
              <a:t>https://github.com/ToRenameTeam/Nucleo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D9EB"/>
          </a:solidFill>
          <a:ln w="6350">
            <a:solidFill>
              <a:srgbClr val="6099B5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Business Requirements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8321040" cy="30784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ID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9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Requirement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9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Description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BR1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Reduction of Administrative Fragmentation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Centralize healthcare data management and booking processes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BR2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Operational Efficiency Improvement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Improve efficiency in booking and health documentation management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BR3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Increased User Satisfaction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Increase satisfaction of patients and doctors through simplification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BR4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Family Data Centralization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Centralize health data of all family members in a single platform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BR5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Administrative Workload Reduction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Reduce administrative workload for patients and healthcare operators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9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7" name="Text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FFDAB9"/>
          </a:solidFill>
          <a:ln w="6350">
            <a:solidFill>
              <a:srgbClr val="CC987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Functional Requirements: Users (Patients </a:t>
            </a:r>
            <a:r>
              <a:rPr lang="en-US" sz="2000" b="1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and Doctors)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969431"/>
              </p:ext>
            </p:extLst>
          </p:nvPr>
        </p:nvGraphicFramePr>
        <p:xfrm>
          <a:off x="411480" y="1479369"/>
          <a:ext cx="8321040" cy="27432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ID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Requirement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Description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F1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Authentication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Users authenticate through credentials: email and password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F2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Dual Doctor-Patient Profiles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A user can access the system both as a doctor and as a patient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F3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Active Delegation Management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A patient can delegate access to their health data to other authorized users (e.g. family members, caregivers)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F4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Passive Delegation Management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A patient can access health data of users who granted them a delegation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FFDAB9"/>
          </a:solidFill>
          <a:ln w="6350">
            <a:solidFill>
              <a:srgbClr val="CC987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Functional Requirements: Patients — Appointments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334978"/>
              </p:ext>
            </p:extLst>
          </p:nvPr>
        </p:nvGraphicFramePr>
        <p:xfrm>
          <a:off x="411480" y="1416234"/>
          <a:ext cx="8321040" cy="2995746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ID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Requirement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Description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F5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Manual Appointment Booking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Patients can book appointments through manual service search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F6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Prescription-Based Booking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Patients can book appointments using an existing medical prescription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F7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Appointment Modification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Patients can modify details of existing appointments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F8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Appointment Cancellation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Patients can cancel existing appointments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F9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Appointment List View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Booked appointments are displayed in an ordered list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F10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Appointment Calendar View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Booked appointments are displayed in calendar format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FFDAB9"/>
          </a:solidFill>
          <a:ln w="6350">
            <a:solidFill>
              <a:srgbClr val="CC987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Functional Requirements: Patients — Documentation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318100"/>
              </p:ext>
            </p:extLst>
          </p:nvPr>
        </p:nvGraphicFramePr>
        <p:xfrm>
          <a:off x="411480" y="1714500"/>
          <a:ext cx="8321040" cy="22860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ID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Requirement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Description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F11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Reading Doctor Documents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Patients can view documents uploaded by their doctors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F12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Uploading Personal Documents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Patients can independently upload personal health documents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F13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Deleting Personal Documents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Patients can delete documents they personally uploaded</a:t>
                      </a:r>
                      <a:endParaRPr lang="en-US" sz="14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7" name="Text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FFDAB9"/>
          </a:solidFill>
          <a:ln w="6350">
            <a:solidFill>
              <a:srgbClr val="CC987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Functional Requirements: Doctors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313508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ID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Requirement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Description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F14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Availability Entry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Doctors can enter their time availability for appointments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F15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Booked Appointment Management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Doctors can view and manage appointments booked by patients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F16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Document Upload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Doctors can upload documents (prescriptions, reports) after completed appointments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F17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Medical Record View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Doctors can view the complete patient medical record in read-only mode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F18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Drug Prescription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Doctors can issue pharmaceutical prescriptions for patients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F19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Specialist Visit Prescription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Doctors can prescribe specialist visits for patients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FFDAB9"/>
          </a:solidFill>
          <a:ln w="6350">
            <a:solidFill>
              <a:srgbClr val="CC987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Functional Requirements: System</a:t>
            </a: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772908"/>
              </p:ext>
            </p:extLst>
          </p:nvPr>
        </p:nvGraphicFramePr>
        <p:xfrm>
          <a:off x="411480" y="1447800"/>
          <a:ext cx="8321040" cy="28956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ID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Requirement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Description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A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F20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Delegation Notifications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Patients are notified when a delegation is created, accepted, or rejected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F21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Appointment Change Notifications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Patients are notified when a doctor changes an appointment date or time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F22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Prescription Notifications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Patients are notified when a doctor creates a prescription or medication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F23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Doctor Booking Notifications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Doctors are notified when a patient books, modifies, or cancels an appointment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F24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Document Analysis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omic Sans MS" pitchFamily="34" charset="0"/>
                          <a:ea typeface="Comic Sans MS" pitchFamily="34" charset="-122"/>
                          <a:cs typeface="Comic Sans MS" pitchFamily="34" charset="-120"/>
                        </a:rPr>
                        <a:t>System extracts key data and information from user-uploaded documents</a:t>
                      </a:r>
                      <a:endParaRPr lang="en-US" sz="1300" dirty="0">
                        <a:latin typeface="Comic Sans MS" charset="0"/>
                        <a:ea typeface="Comic Sans MS" charset="0"/>
                        <a:cs typeface="Comic Sans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9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Main Recipes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52728"/>
            <a:ext cx="2743200" cy="3383280"/>
          </a:xfrm>
          <a:prstGeom prst="rect">
            <a:avLst/>
          </a:prstGeom>
          <a:solidFill>
            <a:srgbClr val="BAE8C8"/>
          </a:solidFill>
          <a:ln w="6350">
            <a:solidFill>
              <a:srgbClr val="60B88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28600" y="1252728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Big Picture</a:t>
            </a:r>
            <a:endParaRPr lang="en-US" sz="1800" dirty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EventStorming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0" y="1252728"/>
            <a:ext cx="2743200" cy="3383280"/>
          </a:xfrm>
          <a:prstGeom prst="rect">
            <a:avLst/>
          </a:prstGeom>
          <a:solidFill>
            <a:srgbClr val="BAD9EB"/>
          </a:solidFill>
          <a:ln w="6350">
            <a:solidFill>
              <a:srgbClr val="6099B5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200400" y="1252728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Process </a:t>
            </a:r>
            <a:r>
              <a:rPr lang="en-US" b="1" dirty="0">
                <a:solidFill>
                  <a:srgbClr val="222222"/>
                </a:solidFill>
                <a:latin typeface="Comic Sans MS" panose="030F0702030302020204" pitchFamily="66" charset="0"/>
              </a:rPr>
              <a:t>Modelling</a:t>
            </a:r>
          </a:p>
          <a:p>
            <a:pPr marL="0" indent="0" algn="ctr">
              <a:buNone/>
            </a:pPr>
            <a:r>
              <a:rPr lang="en-US" sz="1800" b="1" dirty="0" err="1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EventStorming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252728"/>
            <a:ext cx="2743200" cy="3383280"/>
          </a:xfrm>
          <a:prstGeom prst="rect">
            <a:avLst/>
          </a:prstGeom>
          <a:solidFill>
            <a:srgbClr val="DFC5F0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172200" y="1252728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Software Design</a:t>
            </a:r>
            <a:endParaRPr lang="en-US" sz="1800" dirty="0"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EventStorming</a:t>
            </a: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60B88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Big Picture EventStorming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59229" y="1417320"/>
            <a:ext cx="8432074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Big Picture EventStorming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is a large-scale workshop aiming to discover the intricacies of an </a:t>
            </a: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entire business line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D4660A"/>
                </a:solidFill>
                <a:latin typeface="Comic Sans MS" pitchFamily="34" charset="0"/>
              </a:rPr>
              <a:t>Structure is incremental. 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Each step adds a new layer of information: a raw timeline of events, then people and systems, then a validated narrative. The model starts thin and grows richer as more perspectives enter the room.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The main purpose is to </a:t>
            </a: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maximize learning across silos. 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Participants from different departments — often working in silos, rarely talking to each other — build a shared model. Inconsistencies surface automatically. Problems that were invisible become visible.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Participants: 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15–30 people — domain experts, developers, UX designers, managers.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Outcome: 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a visible process, consensus around the core problem, and early hints at system boundaries (Bounded Contexts).</a:t>
            </a:r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Notation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444444"/>
                </a:solidFill>
                <a:latin typeface="Comic Sans MS" pitchFamily="34" charset="0"/>
              </a:rPr>
              <a:t>Big Picture EventStorming uses a minimal, colour-coded notation based on sticky notes: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D4660A"/>
                </a:solidFill>
                <a:latin typeface="Comic Sans MS" pitchFamily="34" charset="0"/>
              </a:rPr>
              <a:t>■  Domain Events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(orange) — Something meaningful that happened in the system, phrased as a verb in the past tense (e.g., </a:t>
            </a:r>
            <a:r>
              <a:rPr lang="en-US" sz="1200" i="1" dirty="0">
                <a:solidFill>
                  <a:srgbClr val="222222"/>
                </a:solidFill>
                <a:latin typeface="Comic Sans MS" pitchFamily="34" charset="0"/>
              </a:rPr>
              <a:t>Order Placed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, </a:t>
            </a:r>
            <a:r>
              <a:rPr lang="en-US" sz="1200" i="1" dirty="0">
                <a:solidFill>
                  <a:srgbClr val="222222"/>
                </a:solidFill>
                <a:latin typeface="Comic Sans MS" pitchFamily="34" charset="0"/>
              </a:rPr>
              <a:t>Payment Received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). The backbone of the entire model.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Comic Sans MS" pitchFamily="34" charset="0"/>
              </a:rPr>
              <a:t>■  People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(small yellow) — A person, role, or team involved in the flow. Definition is intentionally loose.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0136A"/>
                </a:solidFill>
                <a:latin typeface="Comic Sans MS" pitchFamily="34" charset="0"/>
              </a:rPr>
              <a:t>■  Systems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(large pink) — Software components, external services, offices, third-party entities. Everything that is not a human.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AA00AA"/>
                </a:solidFill>
                <a:latin typeface="Comic Sans MS" pitchFamily="34" charset="0"/>
              </a:rPr>
              <a:t>■  Hotspots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(magenta, placed crooked) — A signal: something here is unclear, contested, or unknown. Placed deliberately to acknowledge a problem without getting stuck on it.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555555"/>
                </a:solidFill>
                <a:latin typeface="Comic Sans MS" pitchFamily="34" charset="0"/>
              </a:rPr>
              <a:t>Notation is intentionally minimal. The simplicity removes barriers: anyone in the room can participate without learning a formal modelling language.</a:t>
            </a:r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DFC5F0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Preparation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444444"/>
                </a:solidFill>
                <a:latin typeface="Comic Sans MS" pitchFamily="34" charset="0"/>
              </a:rPr>
              <a:t>A Big Picture session requires three key ingredients before the first sticky note goes up: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D4660A"/>
                </a:solidFill>
                <a:latin typeface="Comic Sans MS" pitchFamily="34" charset="0"/>
              </a:rPr>
              <a:t>1.  Invite the right people.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15–30 participants — </a:t>
            </a: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domain experts and explorers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, ideally a mix of business, IT, and UX. Ensure the group can both answer and ask key questions. Avoid inviting only managers or only developers.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D4660A"/>
                </a:solidFill>
                <a:latin typeface="Comic Sans MS" pitchFamily="34" charset="0"/>
              </a:rPr>
              <a:t>2.  Provide an unlimited modeling surface.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A plotter paper roll on a 10–12 meters straight surface. Most whiteboards are not wide enough. Bring sticky notes in </a:t>
            </a: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all required colours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and enough black markers for everyone.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D4660A"/>
                </a:solidFill>
                <a:latin typeface="Comic Sans MS" pitchFamily="34" charset="0"/>
              </a:rPr>
              <a:t>3.  Model a whole business line.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Big Picture does not focus on a specific area or team. The scope is the entire end-to-end flow, from the first customer interaction to the last system event.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7D3C98"/>
                </a:solidFill>
                <a:latin typeface="Comic Sans MS" pitchFamily="34" charset="0"/>
              </a:rPr>
              <a:t>In Nucleo,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the Big Picture session covered all three core features of the platform: </a:t>
            </a:r>
            <a:r>
              <a:rPr lang="en-US" sz="1200" i="1" dirty="0">
                <a:solidFill>
                  <a:srgbClr val="444444"/>
                </a:solidFill>
                <a:latin typeface="Comic Sans MS" pitchFamily="34" charset="0"/>
              </a:rPr>
              <a:t>FSE Records, Appointment Booking, and Family Delegation.</a:t>
            </a:r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Chaotic Exploration — Appointment Booking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19</a:t>
            </a:r>
            <a:endParaRPr lang="en-US" sz="1200" dirty="0"/>
          </a:p>
        </p:txBody>
      </p:sp>
      <p:pic>
        <p:nvPicPr>
          <p:cNvPr id="8" name="Picture 7" descr="ab_chaotic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032" y="1369011"/>
            <a:ext cx="8631936" cy="31324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Chaotic Exploration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20</a:t>
            </a:r>
            <a:endParaRPr lang="en-US" sz="1200" dirty="0"/>
          </a:p>
        </p:txBody>
      </p:sp>
      <p:pic>
        <p:nvPicPr>
          <p:cNvPr id="8" name="Picture 7" descr="Nucleo Event Storming - Claude - Chaotic Exploration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46799" y="1261872"/>
            <a:ext cx="5250402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Enforce the Timeline — Appointment Booking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21</a:t>
            </a:r>
            <a:endParaRPr lang="en-US" sz="1200" dirty="0"/>
          </a:p>
        </p:txBody>
      </p:sp>
      <p:pic>
        <p:nvPicPr>
          <p:cNvPr id="8" name="Picture 7" descr="ab_enforce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8029" y="1261872"/>
            <a:ext cx="5027942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Enforce the Timeline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22</a:t>
            </a:r>
            <a:endParaRPr lang="en-US" sz="1200" dirty="0"/>
          </a:p>
        </p:txBody>
      </p:sp>
      <p:pic>
        <p:nvPicPr>
          <p:cNvPr id="8" name="Picture 7" descr="Nucleo Event Storming - Claude - Enforce the timeline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9441" y="1261872"/>
            <a:ext cx="4045118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Pain Points — Appointment Booking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36551" y="1250342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23</a:t>
            </a:r>
            <a:endParaRPr lang="en-US" sz="1200" dirty="0"/>
          </a:p>
        </p:txBody>
      </p:sp>
      <p:pic>
        <p:nvPicPr>
          <p:cNvPr id="8" name="Picture 7" descr="ab_pain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8109" y="1261872"/>
            <a:ext cx="5027782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Pain Points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24</a:t>
            </a:r>
            <a:endParaRPr lang="en-US" sz="1200" dirty="0"/>
          </a:p>
        </p:txBody>
      </p:sp>
      <p:pic>
        <p:nvPicPr>
          <p:cNvPr id="8" name="Picture 7" descr="Nucleo Event Storming - Claude - Pain points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36625" y="1261872"/>
            <a:ext cx="347075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Pivotal Points — Appointment Booking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25</a:t>
            </a:r>
            <a:endParaRPr lang="en-US" sz="1200" dirty="0"/>
          </a:p>
        </p:txBody>
      </p:sp>
      <p:pic>
        <p:nvPicPr>
          <p:cNvPr id="8" name="Picture 7" descr="ab_pivotal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8109" y="1261872"/>
            <a:ext cx="5027782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Pivotal Points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26</a:t>
            </a:r>
            <a:endParaRPr lang="en-US" sz="1200" dirty="0"/>
          </a:p>
        </p:txBody>
      </p:sp>
      <p:pic>
        <p:nvPicPr>
          <p:cNvPr id="8" name="Picture 7" descr="Nucleo Event Storming - Claude - Pivotal points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36625" y="1261872"/>
            <a:ext cx="347075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D9EB"/>
          </a:solidFill>
          <a:ln w="6350">
            <a:solidFill>
              <a:srgbClr val="6099B5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Process Modelling EventStorming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320039" y="1403604"/>
            <a:ext cx="8490857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Process Modeling EventStorming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is 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used for discovering the intricacies of complex business processes and designing new ones. The team works collaboratively against a shared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opponent: the complexity of the process itself.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Scope: 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a single end-to-end process with a clear starting point and goal.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Team: 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4–8 interdisciplinary people.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44444"/>
                </a:solidFill>
                <a:latin typeface="Comic Sans MS" pitchFamily="34" charset="0"/>
              </a:rPr>
              <a:t>New notation elements: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0B0F0"/>
                </a:solidFill>
                <a:latin typeface="Comic Sans MS" pitchFamily="34" charset="0"/>
              </a:rPr>
              <a:t>■  Commands</a:t>
            </a:r>
            <a:r>
              <a:rPr lang="en-US" sz="1200" b="1" dirty="0">
                <a:solidFill>
                  <a:srgbClr val="1A5276"/>
                </a:solidFill>
                <a:latin typeface="Comic Sans MS" pitchFamily="34" charset="0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(blue) — an intent to change state, phrased as verb + noun (e.g., </a:t>
            </a:r>
            <a:r>
              <a:rPr lang="en-US" sz="1200" i="1" dirty="0">
                <a:solidFill>
                  <a:srgbClr val="222222"/>
                </a:solidFill>
                <a:latin typeface="Comic Sans MS" pitchFamily="34" charset="0"/>
              </a:rPr>
              <a:t>Place Order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).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7030A0"/>
                </a:solidFill>
                <a:latin typeface="Comic Sans MS" pitchFamily="34" charset="0"/>
              </a:rPr>
              <a:t>■  Policies</a:t>
            </a:r>
            <a:r>
              <a:rPr lang="en-US" sz="1200" b="1" dirty="0">
                <a:solidFill>
                  <a:srgbClr val="7D3C98"/>
                </a:solidFill>
                <a:latin typeface="Comic Sans MS" pitchFamily="34" charset="0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(lilac) — the business rule connecting an Event to a Command: </a:t>
            </a:r>
            <a:r>
              <a:rPr lang="en-US" sz="1200" i="1" dirty="0">
                <a:solidFill>
                  <a:srgbClr val="222222"/>
                </a:solidFill>
                <a:latin typeface="Comic Sans MS" pitchFamily="34" charset="0"/>
              </a:rPr>
              <a:t>whenever X, then always Y.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0B050"/>
                </a:solidFill>
                <a:latin typeface="Comic Sans MS" pitchFamily="34" charset="0"/>
              </a:rPr>
              <a:t>■  Read Models</a:t>
            </a:r>
            <a:r>
              <a:rPr lang="en-US" sz="1200" b="1" dirty="0">
                <a:solidFill>
                  <a:srgbClr val="1E8449"/>
                </a:solidFill>
                <a:latin typeface="Comic Sans MS" pitchFamily="34" charset="0"/>
              </a:rPr>
              <a:t> 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(green) — the information a person needs to make a decision before issuing a command.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3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Grammar: </a:t>
            </a:r>
            <a:r>
              <a:rPr lang="en-US" sz="1200" b="1" i="1" dirty="0">
                <a:solidFill>
                  <a:schemeClr val="accent2"/>
                </a:solidFill>
                <a:latin typeface="Comic Sans MS" pitchFamily="34" charset="0"/>
              </a:rPr>
              <a:t>Event</a:t>
            </a:r>
            <a:r>
              <a:rPr lang="en-US" sz="1200" b="1" i="1" dirty="0">
                <a:solidFill>
                  <a:srgbClr val="444444"/>
                </a:solidFill>
                <a:latin typeface="Comic Sans MS" pitchFamily="34" charset="0"/>
              </a:rPr>
              <a:t> → </a:t>
            </a:r>
            <a:r>
              <a:rPr lang="en-US" sz="1200" b="1" i="1" dirty="0">
                <a:solidFill>
                  <a:srgbClr val="7030A0"/>
                </a:solidFill>
                <a:latin typeface="Comic Sans MS" pitchFamily="34" charset="0"/>
              </a:rPr>
              <a:t>Policy</a:t>
            </a:r>
            <a:r>
              <a:rPr lang="en-US" sz="1200" b="1" i="1" dirty="0">
                <a:solidFill>
                  <a:srgbClr val="444444"/>
                </a:solidFill>
                <a:latin typeface="Comic Sans MS" pitchFamily="34" charset="0"/>
              </a:rPr>
              <a:t> → </a:t>
            </a:r>
            <a:r>
              <a:rPr lang="en-US" sz="1200" b="1" i="1" dirty="0">
                <a:solidFill>
                  <a:schemeClr val="accent1"/>
                </a:solidFill>
                <a:latin typeface="Comic Sans MS" pitchFamily="34" charset="0"/>
              </a:rPr>
              <a:t>Command</a:t>
            </a:r>
            <a:r>
              <a:rPr lang="en-US" sz="1200" b="1" i="1" dirty="0">
                <a:solidFill>
                  <a:srgbClr val="444444"/>
                </a:solidFill>
                <a:latin typeface="Comic Sans MS" pitchFamily="34" charset="0"/>
              </a:rPr>
              <a:t> → </a:t>
            </a:r>
            <a:r>
              <a:rPr lang="en-US" sz="1200" b="1" i="1" dirty="0">
                <a:solidFill>
                  <a:srgbClr val="FFB2C1"/>
                </a:solidFill>
                <a:latin typeface="Comic Sans MS" pitchFamily="34" charset="0"/>
              </a:rPr>
              <a:t>System </a:t>
            </a:r>
            <a:r>
              <a:rPr lang="en-US" sz="1200" b="1" i="1" dirty="0">
                <a:solidFill>
                  <a:srgbClr val="444444"/>
                </a:solidFill>
                <a:latin typeface="Comic Sans MS" pitchFamily="34" charset="0"/>
              </a:rPr>
              <a:t>→ </a:t>
            </a:r>
            <a:r>
              <a:rPr lang="en-US" sz="1200" b="1" i="1" dirty="0">
                <a:solidFill>
                  <a:schemeClr val="accent2"/>
                </a:solidFill>
                <a:latin typeface="Comic Sans MS" pitchFamily="34" charset="0"/>
              </a:rPr>
              <a:t>Event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(repeating pattern enforced throughout the session).</a:t>
            </a:r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D9EB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22222"/>
                </a:solidFill>
                <a:latin typeface="Comic Mono" pitchFamily="49" charset="0"/>
                <a:ea typeface="Comic Sans MS" pitchFamily="34" charset="-122"/>
                <a:cs typeface="Comic Sans MS" pitchFamily="34" charset="-120"/>
              </a:rPr>
              <a:t>Commands, People &amp; Systems — Appointment Booking</a:t>
            </a:r>
            <a:endParaRPr lang="en-US" sz="2400" dirty="0">
              <a:latin typeface="COMIC MONO" pitchFamily="49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28</a:t>
            </a:r>
            <a:endParaRPr lang="en-US" sz="1200" dirty="0"/>
          </a:p>
        </p:txBody>
      </p:sp>
      <p:pic>
        <p:nvPicPr>
          <p:cNvPr id="8" name="Picture 7" descr="ab_commands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141" y="1261872"/>
            <a:ext cx="8105717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D9EB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Commands &amp; People/Systems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29</a:t>
            </a:r>
            <a:endParaRPr lang="en-US" sz="1200" dirty="0"/>
          </a:p>
        </p:txBody>
      </p:sp>
      <p:pic>
        <p:nvPicPr>
          <p:cNvPr id="8" name="Picture 7" descr="Nucleo Event Storming - Claude - Commands (+ People &amp; Systems)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354" y="1234440"/>
            <a:ext cx="7764129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D9EB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Policies — Appointment Booking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30</a:t>
            </a:r>
            <a:endParaRPr lang="en-US" sz="1200" dirty="0"/>
          </a:p>
        </p:txBody>
      </p:sp>
      <p:pic>
        <p:nvPicPr>
          <p:cNvPr id="8" name="Picture 7" descr="ab_policies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032" y="1377113"/>
            <a:ext cx="8631936" cy="311622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D9EB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Policies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31</a:t>
            </a:r>
            <a:endParaRPr lang="en-US" sz="1200" dirty="0"/>
          </a:p>
        </p:txBody>
      </p:sp>
      <p:pic>
        <p:nvPicPr>
          <p:cNvPr id="8" name="Picture 7" descr="Nucleo Event Storming - Claude - Policies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405" y="1261872"/>
            <a:ext cx="7968271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D9EB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Read Models — Appointment Booking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32</a:t>
            </a:r>
            <a:endParaRPr lang="en-US" sz="1200" dirty="0"/>
          </a:p>
        </p:txBody>
      </p:sp>
      <p:pic>
        <p:nvPicPr>
          <p:cNvPr id="8" name="Picture 7" descr="ab_readmodels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6032" y="1545666"/>
            <a:ext cx="8631936" cy="277911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D9EB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Read Models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33</a:t>
            </a:r>
            <a:endParaRPr lang="en-US" sz="1200" dirty="0"/>
          </a:p>
        </p:txBody>
      </p:sp>
      <p:pic>
        <p:nvPicPr>
          <p:cNvPr id="8" name="Picture 7" descr="Nucleo Event Storming - Claude - Read models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261872"/>
            <a:ext cx="8060122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60B88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Software Design EventStorming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Software Design EventStorming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aims to design </a:t>
            </a:r>
            <a:r>
              <a:rPr lang="en-US" sz="1200" b="1" i="1" dirty="0">
                <a:solidFill>
                  <a:srgbClr val="222222"/>
                </a:solidFill>
                <a:latin typeface="Comic Sans MS" pitchFamily="34" charset="0"/>
              </a:rPr>
              <a:t>software models</a:t>
            </a:r>
            <a:r>
              <a:rPr lang="en-US" sz="1200" dirty="0">
                <a:solidFill>
                  <a:srgbClr val="222222"/>
                </a:solidFill>
                <a:latin typeface="Comic Sans MS" pitchFamily="34" charset="0"/>
              </a:rPr>
              <a:t> to support complex business processes, with Domain-Driven Design in mind. It extends the Process Modeling game with two new rules.</a:t>
            </a:r>
          </a:p>
          <a:p>
            <a:pPr marL="0" indent="0" algn="l">
              <a:buNone/>
            </a:pPr>
            <a:endParaRPr lang="en-US" sz="4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5276"/>
                </a:solidFill>
                <a:latin typeface="Comic Sans MS" pitchFamily="34" charset="0"/>
              </a:rPr>
              <a:t>From Systems to Aggregates. 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Pink System sticky notes are replaced by yellow </a:t>
            </a: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Aggregate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 sticky notes when the team decides to design and own a component. This means: no longer a black box — we take responsibility for it.</a:t>
            </a:r>
          </a:p>
          <a:p>
            <a:pPr marL="0" indent="0" algn="l">
              <a:buNone/>
            </a:pPr>
            <a:endParaRPr lang="en-US" sz="3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5276"/>
                </a:solidFill>
                <a:latin typeface="Comic Sans MS" pitchFamily="34" charset="0"/>
              </a:rPr>
              <a:t>Defining Aggregates correctly. 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The typical mistake is to </a:t>
            </a:r>
            <a:r>
              <a:rPr lang="en-US" sz="1200" i="1" dirty="0">
                <a:solidFill>
                  <a:srgbClr val="222222"/>
                </a:solidFill>
                <a:latin typeface="Comic Sans MS" pitchFamily="34" charset="0"/>
              </a:rPr>
              <a:t>start by naming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 Aggregates (e.g., Order, Customer) and fill them with commands and events. The right approach is the opposite: let the </a:t>
            </a: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behaviour define the Aggregate.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 Find clusters of coherent commands and events; let the name emerge from that.</a:t>
            </a:r>
          </a:p>
          <a:p>
            <a:pPr marL="0" indent="0" algn="l">
              <a:buNone/>
            </a:pPr>
            <a:endParaRPr lang="en-US" sz="3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7D3C98"/>
                </a:solidFill>
                <a:latin typeface="Comic Sans MS" pitchFamily="34" charset="0"/>
              </a:rPr>
              <a:t>Bounded Contexts. </a:t>
            </a:r>
            <a:r>
              <a:rPr lang="en-US" sz="1200" dirty="0">
                <a:solidFill>
                  <a:srgbClr val="444444"/>
                </a:solidFill>
                <a:latin typeface="Comic Sans MS" pitchFamily="34" charset="0"/>
              </a:rPr>
              <a:t>A self-contained part of the system with its own language, model, and team. Boundaries reveal themselves through linguistic mismatches: different departments using different words for the same concept, or the same word for different concepts.</a:t>
            </a:r>
          </a:p>
          <a:p>
            <a:pPr marL="0" indent="0" algn="l">
              <a:buNone/>
            </a:pPr>
            <a:endParaRPr lang="en-US" sz="4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Comic Sans MS" pitchFamily="34" charset="0"/>
              </a:rPr>
              <a:t>Outcome: </a:t>
            </a:r>
            <a:r>
              <a:rPr lang="en-US" sz="1200" i="1" dirty="0">
                <a:solidFill>
                  <a:srgbClr val="555555"/>
                </a:solidFill>
                <a:latin typeface="Comic Sans MS" pitchFamily="34" charset="0"/>
              </a:rPr>
              <a:t>Aggregates shaped by behavior, Bounded Contexts highlighted, and the foundation for smart system decomposition.</a:t>
            </a:r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Aggregates — Appointment Booking</a:t>
            </a:r>
            <a:endParaRPr lang="en-US" sz="2800" dirty="0"/>
          </a:p>
        </p:txBody>
      </p:sp>
      <p:sp>
        <p:nvSpPr>
          <p:cNvPr id="4" name="Shape 2"/>
          <p:cNvSpPr>
            <a:spLocks/>
          </p:cNvSpPr>
          <p:nvPr/>
        </p:nvSpPr>
        <p:spPr>
          <a:xfrm>
            <a:off x="228599" y="1227632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35</a:t>
            </a:r>
            <a:endParaRPr lang="en-US" sz="1200" dirty="0"/>
          </a:p>
        </p:txBody>
      </p:sp>
      <p:pic>
        <p:nvPicPr>
          <p:cNvPr id="8" name="Picture 7" descr="ab_aggregates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7167" y="1133856"/>
            <a:ext cx="1129665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Aggregates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36</a:t>
            </a:r>
            <a:endParaRPr lang="en-US" sz="1200" dirty="0"/>
          </a:p>
        </p:txBody>
      </p:sp>
      <p:pic>
        <p:nvPicPr>
          <p:cNvPr id="8" name="Picture 7" descr="Nucleo Event Storming - Claude - Aggregates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5739" y="1261872"/>
            <a:ext cx="3592521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Bounded Contexts — Appointment Booking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599" y="1282496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</a:rPr>
              <a:t>37</a:t>
            </a:r>
            <a:endParaRPr lang="en-US" sz="1200" dirty="0"/>
          </a:p>
        </p:txBody>
      </p:sp>
      <p:pic>
        <p:nvPicPr>
          <p:cNvPr id="8" name="Picture 7" descr="ab_bounded.jp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21417" y="1282496"/>
            <a:ext cx="901165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9060B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Bounded Contexts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38</a:t>
            </a:r>
            <a:endParaRPr lang="en-US" sz="1200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978EB6D8-2D9C-687A-FD98-2C67B827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371" y="1270362"/>
            <a:ext cx="3571258" cy="332972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BAE8C8"/>
          </a:solidFill>
          <a:ln w="6350">
            <a:solidFill>
              <a:srgbClr val="D4B80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Nucleo Final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39</a:t>
            </a:r>
            <a:endParaRPr lang="en-US" sz="1200" dirty="0"/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2BDE67B0-F2EE-9632-609C-77E6BD1AC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6551" y="1162594"/>
            <a:ext cx="5370898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8686800" cy="960120"/>
          </a:xfrm>
          <a:prstGeom prst="rect">
            <a:avLst/>
          </a:prstGeom>
          <a:solidFill>
            <a:srgbClr val="FFB3BA"/>
          </a:solidFill>
          <a:ln w="6350">
            <a:solidFill>
              <a:srgbClr val="CC708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References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8686800" cy="3401568"/>
          </a:xfrm>
          <a:prstGeom prst="rect">
            <a:avLst/>
          </a:prstGeom>
          <a:solidFill>
            <a:srgbClr val="FFFDE7"/>
          </a:solidFill>
          <a:ln w="6350">
            <a:solidFill>
              <a:srgbClr val="D4C860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- Evans, E. (2003). Domain-Driven Design: Tackling Complexity in the Heart of Software. Addison-Wesley.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- Cunningham, W., &amp; Beck, K. (1989). Class-Responsibility-Collaborator (CRC) Cards. OOPSLA ’89 Workshop.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- Beck, K. (1996). Smalltalk Best Practice Patterns. Prentice Hall.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- Fowler, M. (1999). Refactoring: Improving the Design of Existing Code (1st ed.). Addison-Wesley.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- Fowler, M. (2002). Patterns of Enterprise Application Architecture. Addison-Wesley.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- Vernon, V. (2013). Implementing Domain-Driven Design. Addison-Wesley.</a:t>
            </a:r>
          </a:p>
          <a:p>
            <a:pPr algn="l">
              <a:spcBef>
                <a:spcPts val="200"/>
              </a:spcBef>
            </a:pP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- Brandolini, A. (2013). </a:t>
            </a:r>
            <a:r>
              <a:rPr lang="en-US" sz="1000" dirty="0" err="1">
                <a:solidFill>
                  <a:srgbClr val="222222"/>
                </a:solidFill>
                <a:latin typeface="Comic Sans MS" pitchFamily="34" charset="0"/>
              </a:rPr>
              <a:t>EventStorming</a:t>
            </a: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 (workshop format). </a:t>
            </a:r>
            <a:r>
              <a:rPr lang="en-US" sz="1000" dirty="0">
                <a:solidFill>
                  <a:srgbClr val="222222"/>
                </a:solidFill>
                <a:latin typeface="Comic Sans MS" pitchFamily="34" charset="0"/>
                <a:hlinkClick r:id="rId3"/>
              </a:rPr>
              <a:t>https://www.eventstorming.com</a:t>
            </a:r>
            <a:endParaRPr lang="en-US" sz="1000" dirty="0">
              <a:solidFill>
                <a:srgbClr val="222222"/>
              </a:solidFill>
              <a:latin typeface="Comic Sans MS" pitchFamily="34" charset="0"/>
            </a:endParaRP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- Foote, B., &amp; Yoder, J. (1997). Big Ball of Mud. </a:t>
            </a:r>
            <a:r>
              <a:rPr lang="en-US" sz="1000" dirty="0" err="1">
                <a:solidFill>
                  <a:srgbClr val="222222"/>
                </a:solidFill>
                <a:latin typeface="Comic Sans MS" pitchFamily="34" charset="0"/>
              </a:rPr>
              <a:t>PLoP</a:t>
            </a: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 ’97. Monticello, Illinois.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- Conway, M. E. (1968). How do committees invent? </a:t>
            </a:r>
            <a:r>
              <a:rPr lang="en-US" sz="1000" dirty="0" err="1">
                <a:solidFill>
                  <a:srgbClr val="222222"/>
                </a:solidFill>
                <a:latin typeface="Comic Sans MS" pitchFamily="34" charset="0"/>
              </a:rPr>
              <a:t>Datamation</a:t>
            </a: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, 14(4), 28–31.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- Brooks, F. P. (1987). No Silver Bullet: Essence and Accidents of Software Engineering. IEEE Computer, 20(4), 10–19.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- Fowler, M. (2003). Anemic Domain Model. </a:t>
            </a:r>
            <a:r>
              <a:rPr lang="en-US" sz="1000" dirty="0" err="1">
                <a:solidFill>
                  <a:srgbClr val="222222"/>
                </a:solidFill>
                <a:latin typeface="Comic Sans MS" pitchFamily="34" charset="0"/>
              </a:rPr>
              <a:t>martinfowler.com</a:t>
            </a: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. https://</a:t>
            </a:r>
            <a:r>
              <a:rPr lang="en-US" sz="1000" dirty="0" err="1">
                <a:solidFill>
                  <a:srgbClr val="222222"/>
                </a:solidFill>
                <a:latin typeface="Comic Sans MS" pitchFamily="34" charset="0"/>
              </a:rPr>
              <a:t>martinfowler.com</a:t>
            </a: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/bliki/</a:t>
            </a:r>
            <a:r>
              <a:rPr lang="en-US" sz="1000" dirty="0" err="1">
                <a:solidFill>
                  <a:srgbClr val="222222"/>
                </a:solidFill>
                <a:latin typeface="Comic Sans MS" pitchFamily="34" charset="0"/>
              </a:rPr>
              <a:t>AnemicDomainModel.html</a:t>
            </a:r>
            <a:endParaRPr lang="en-US" sz="1000" dirty="0">
              <a:solidFill>
                <a:srgbClr val="222222"/>
              </a:solidFill>
              <a:latin typeface="Comic Sans MS" pitchFamily="34" charset="0"/>
            </a:endParaRPr>
          </a:p>
          <a:p>
            <a:pPr marL="0" indent="0" algn="l">
              <a:spcBef>
                <a:spcPts val="200"/>
              </a:spcBef>
              <a:buNone/>
            </a:pP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- Young, G. (2010). CQRS Documents. https://</a:t>
            </a:r>
            <a:r>
              <a:rPr lang="en-US" sz="1000" dirty="0" err="1">
                <a:solidFill>
                  <a:srgbClr val="222222"/>
                </a:solidFill>
                <a:latin typeface="Comic Sans MS" pitchFamily="34" charset="0"/>
              </a:rPr>
              <a:t>cqrs.files.wordpress.com</a:t>
            </a:r>
            <a:r>
              <a:rPr lang="en-US" sz="1000" dirty="0">
                <a:solidFill>
                  <a:srgbClr val="222222"/>
                </a:solidFill>
                <a:latin typeface="Comic Sans MS" pitchFamily="34" charset="0"/>
              </a:rPr>
              <a:t>/2010/11/</a:t>
            </a:r>
            <a:r>
              <a:rPr lang="en-US" sz="1000" dirty="0" err="1">
                <a:solidFill>
                  <a:srgbClr val="222222"/>
                </a:solidFill>
                <a:latin typeface="Comic Sans MS" pitchFamily="34" charset="0"/>
              </a:rPr>
              <a:t>cqrs_documents.pdf</a:t>
            </a:r>
            <a:endParaRPr lang="en-US" sz="1000" dirty="0">
              <a:solidFill>
                <a:srgbClr val="222222"/>
              </a:solidFill>
              <a:latin typeface="Comic Sans MS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  <a:prstDash val="solid"/>
          </a:ln>
          <a:effectLst>
            <a:outerShdw blurRad="1016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7" name="Text 5"/>
          <p:cNvSpPr/>
          <p:nvPr/>
        </p:nvSpPr>
        <p:spPr>
          <a:xfrm>
            <a:off x="8412480" y="44805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stIt_TL1"/>
          <p:cNvSpPr/>
          <p:nvPr/>
        </p:nvSpPr>
        <p:spPr>
          <a:xfrm rot="-300000">
            <a:off x="91440" y="91440"/>
            <a:ext cx="1371600" cy="68580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" name="PostIt_TL2"/>
          <p:cNvSpPr/>
          <p:nvPr/>
        </p:nvSpPr>
        <p:spPr>
          <a:xfrm rot="200000">
            <a:off x="1280160" y="182880"/>
            <a:ext cx="1188720" cy="685800"/>
          </a:xfrm>
          <a:prstGeom prst="rect">
            <a:avLst/>
          </a:prstGeom>
          <a:solidFill>
            <a:srgbClr val="FFB3BA"/>
          </a:solidFill>
          <a:ln w="6350">
            <a:solidFill>
              <a:srgbClr val="CC708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PostIt_TL3"/>
          <p:cNvSpPr/>
          <p:nvPr/>
        </p:nvSpPr>
        <p:spPr>
          <a:xfrm rot="-150000">
            <a:off x="182880" y="685800"/>
            <a:ext cx="1097280" cy="594360"/>
          </a:xfrm>
          <a:prstGeom prst="rect">
            <a:avLst/>
          </a:prstGeom>
          <a:solidFill>
            <a:srgbClr val="BAD9EB"/>
          </a:solidFill>
          <a:ln w="6350">
            <a:solidFill>
              <a:srgbClr val="6099B5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PostIt_TR1"/>
          <p:cNvSpPr/>
          <p:nvPr/>
        </p:nvSpPr>
        <p:spPr>
          <a:xfrm rot="300000">
            <a:off x="7635600" y="91440"/>
            <a:ext cx="1371600" cy="685800"/>
          </a:xfrm>
          <a:prstGeom prst="rect">
            <a:avLst/>
          </a:prstGeom>
          <a:solidFill>
            <a:srgbClr val="BAE8C8"/>
          </a:solidFill>
          <a:ln w="6350">
            <a:solidFill>
              <a:srgbClr val="60B88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PostIt_TR2"/>
          <p:cNvSpPr/>
          <p:nvPr/>
        </p:nvSpPr>
        <p:spPr>
          <a:xfrm rot="-250000">
            <a:off x="6629040" y="182880"/>
            <a:ext cx="1188720" cy="685800"/>
          </a:xfrm>
          <a:prstGeom prst="rect">
            <a:avLst/>
          </a:prstGeom>
          <a:solidFill>
            <a:srgbClr val="DFC5F0"/>
          </a:solidFill>
          <a:ln w="6350">
            <a:solidFill>
              <a:srgbClr val="9060B8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PostIt_TR3"/>
          <p:cNvSpPr/>
          <p:nvPr/>
        </p:nvSpPr>
        <p:spPr>
          <a:xfrm rot="100000">
            <a:off x="7863840" y="685800"/>
            <a:ext cx="1097280" cy="594360"/>
          </a:xfrm>
          <a:prstGeom prst="rect">
            <a:avLst/>
          </a:prstGeom>
          <a:solidFill>
            <a:srgbClr val="FFDAB9"/>
          </a:solidFill>
          <a:ln w="6350">
            <a:solidFill>
              <a:srgbClr val="CC987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PostIt_LM1"/>
          <p:cNvSpPr/>
          <p:nvPr/>
        </p:nvSpPr>
        <p:spPr>
          <a:xfrm rot="-200000">
            <a:off x="91440" y="1280160"/>
            <a:ext cx="1188720" cy="68580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PostIt_LM2"/>
          <p:cNvSpPr/>
          <p:nvPr/>
        </p:nvSpPr>
        <p:spPr>
          <a:xfrm rot="350000">
            <a:off x="182880" y="1920240"/>
            <a:ext cx="1097280" cy="594360"/>
          </a:xfrm>
          <a:prstGeom prst="rect">
            <a:avLst/>
          </a:prstGeom>
          <a:solidFill>
            <a:srgbClr val="BAE8C8"/>
          </a:solidFill>
          <a:ln w="6350">
            <a:solidFill>
              <a:srgbClr val="60B88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PostIt_RM1"/>
          <p:cNvSpPr/>
          <p:nvPr/>
        </p:nvSpPr>
        <p:spPr>
          <a:xfrm rot="250000">
            <a:off x="7863840" y="1280160"/>
            <a:ext cx="1188720" cy="685800"/>
          </a:xfrm>
          <a:prstGeom prst="rect">
            <a:avLst/>
          </a:prstGeom>
          <a:solidFill>
            <a:srgbClr val="FFB3BA"/>
          </a:solidFill>
          <a:ln w="6350">
            <a:solidFill>
              <a:srgbClr val="CC708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PostIt_RM2"/>
          <p:cNvSpPr/>
          <p:nvPr/>
        </p:nvSpPr>
        <p:spPr>
          <a:xfrm rot="-300000">
            <a:off x="7863840" y="1920240"/>
            <a:ext cx="1097280" cy="594360"/>
          </a:xfrm>
          <a:prstGeom prst="rect">
            <a:avLst/>
          </a:prstGeom>
          <a:solidFill>
            <a:srgbClr val="DFC5F0"/>
          </a:solidFill>
          <a:ln w="6350">
            <a:solidFill>
              <a:srgbClr val="9060B8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PostIt_BL1"/>
          <p:cNvSpPr/>
          <p:nvPr/>
        </p:nvSpPr>
        <p:spPr>
          <a:xfrm rot="150000">
            <a:off x="91440" y="2743200"/>
            <a:ext cx="1097280" cy="594360"/>
          </a:xfrm>
          <a:prstGeom prst="rect">
            <a:avLst/>
          </a:prstGeom>
          <a:solidFill>
            <a:srgbClr val="FFDAB9"/>
          </a:solidFill>
          <a:ln w="6350">
            <a:solidFill>
              <a:srgbClr val="CC987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PostIt_BR1"/>
          <p:cNvSpPr/>
          <p:nvPr/>
        </p:nvSpPr>
        <p:spPr>
          <a:xfrm rot="-100000">
            <a:off x="7863840" y="2743200"/>
            <a:ext cx="1097280" cy="594360"/>
          </a:xfrm>
          <a:prstGeom prst="rect">
            <a:avLst/>
          </a:prstGeom>
          <a:solidFill>
            <a:srgbClr val="FFE14D"/>
          </a:solidFill>
          <a:ln w="6350">
            <a:solidFill>
              <a:srgbClr val="D4B800"/>
            </a:solidFill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itle"/>
          <p:cNvSpPr/>
          <p:nvPr/>
        </p:nvSpPr>
        <p:spPr>
          <a:xfrm>
            <a:off x="1371600" y="548640"/>
            <a:ext cx="6400800" cy="1143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Thank You!</a:t>
            </a:r>
          </a:p>
        </p:txBody>
      </p:sp>
      <p:sp>
        <p:nvSpPr>
          <p:cNvPr id="21" name="Message"/>
          <p:cNvSpPr/>
          <p:nvPr/>
        </p:nvSpPr>
        <p:spPr>
          <a:xfrm>
            <a:off x="1371600" y="173736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i="1" dirty="0">
                <a:solidFill>
                  <a:srgbClr val="444444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Thank you all for your attention</a:t>
            </a:r>
          </a:p>
          <a:p>
            <a:pPr marL="0" indent="0" algn="ctr">
              <a:buNone/>
            </a:pPr>
            <a:r>
              <a:rPr lang="en-US" sz="2000" b="0" i="1" dirty="0">
                <a:solidFill>
                  <a:srgbClr val="444444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and to the </a:t>
            </a:r>
            <a:r>
              <a:rPr lang="en-US" sz="2000" b="0" i="1">
                <a:solidFill>
                  <a:srgbClr val="444444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Professor Ciatto </a:t>
            </a:r>
            <a:r>
              <a:rPr lang="en-US" sz="2000" b="0" i="1" dirty="0">
                <a:solidFill>
                  <a:srgbClr val="444444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for this wonderful opportunity.</a:t>
            </a:r>
          </a:p>
        </p:txBody>
      </p:sp>
      <p:sp>
        <p:nvSpPr>
          <p:cNvPr id="22" name="Signature"/>
          <p:cNvSpPr/>
          <p:nvPr/>
        </p:nvSpPr>
        <p:spPr>
          <a:xfrm>
            <a:off x="1371600" y="265176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Comic Sans MS" panose="030F0702030302020204" pitchFamily="66" charset="0"/>
                <a:ea typeface="Comic Sans MS" pitchFamily="34" charset="-122"/>
                <a:cs typeface="Comic Sans MS" pitchFamily="34" charset="-120"/>
              </a:rPr>
              <a:t>— Lucia &amp; Luca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2719</Words>
  <Application>Microsoft Macintosh PowerPoint</Application>
  <PresentationFormat>Presentazione su schermo (16:9)</PresentationFormat>
  <Paragraphs>366</Paragraphs>
  <Slides>43</Slides>
  <Notes>23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43</vt:i4>
      </vt:variant>
    </vt:vector>
  </HeadingPairs>
  <TitlesOfParts>
    <vt:vector size="48" baseType="lpstr">
      <vt:lpstr>Arial</vt:lpstr>
      <vt:lpstr>COMIC MONO</vt:lpstr>
      <vt:lpstr>COMIC MONO</vt:lpstr>
      <vt:lpstr>Comic Sans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Storming Seminar</dc:title>
  <dc:subject>PptxGenJS Presentation</dc:subject>
  <dc:creator>PptxGenJS</dc:creator>
  <cp:lastModifiedBy>Luca Samorè</cp:lastModifiedBy>
  <cp:revision>18</cp:revision>
  <dcterms:created xsi:type="dcterms:W3CDTF">2026-05-14T12:16:50Z</dcterms:created>
  <dcterms:modified xsi:type="dcterms:W3CDTF">2026-05-27T20:57:03Z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f4bb52-9e9d-4296-940a-59002820a53c_Enabled">
    <vt:lpwstr>true</vt:lpwstr>
  </property>
  <property fmtid="{D5CDD505-2E9C-101B-9397-08002B2CF9AE}" pid="3" name="MSIP_Label_5bf4bb52-9e9d-4296-940a-59002820a53c_SetDate">
    <vt:lpwstr>2026-05-27T08:51:33Z</vt:lpwstr>
  </property>
  <property fmtid="{D5CDD505-2E9C-101B-9397-08002B2CF9AE}" pid="4" name="MSIP_Label_5bf4bb52-9e9d-4296-940a-59002820a53c_Method">
    <vt:lpwstr>Standard</vt:lpwstr>
  </property>
  <property fmtid="{D5CDD505-2E9C-101B-9397-08002B2CF9AE}" pid="5" name="MSIP_Label_5bf4bb52-9e9d-4296-940a-59002820a53c_Name">
    <vt:lpwstr>5bf4bb52-9e9d-4296-940a-59002820a53c</vt:lpwstr>
  </property>
  <property fmtid="{D5CDD505-2E9C-101B-9397-08002B2CF9AE}" pid="6" name="MSIP_Label_5bf4bb52-9e9d-4296-940a-59002820a53c_SiteId">
    <vt:lpwstr>cbeb3ecc-6f45-4183-b5a8-088140deae5d</vt:lpwstr>
  </property>
  <property fmtid="{D5CDD505-2E9C-101B-9397-08002B2CF9AE}" pid="7" name="MSIP_Label_5bf4bb52-9e9d-4296-940a-59002820a53c_ActionId">
    <vt:lpwstr>a06b5b8d-cbed-464e-baf0-dcd2cdc92e39</vt:lpwstr>
  </property>
  <property fmtid="{D5CDD505-2E9C-101B-9397-08002B2CF9AE}" pid="8" name="MSIP_Label_5bf4bb52-9e9d-4296-940a-59002820a53c_ContentBits">
    <vt:lpwstr>0</vt:lpwstr>
  </property>
  <property fmtid="{D5CDD505-2E9C-101B-9397-08002B2CF9AE}" pid="9" name="MSIP_Label_5bf4bb52-9e9d-4296-940a-59002820a53c_Tag">
    <vt:lpwstr>10, 3, 0, 1</vt:lpwstr>
  </property>
</Properties>
</file>